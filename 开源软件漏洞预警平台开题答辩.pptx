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尊敬的各位评委老师，上午好。我是</a:t>
            </a:r>
            <a:r>
              <a:rPr lang="zh-CN" altLang="en-US" sz="1400" b="0" i="0" u="none" strike="noStrike">
                <a:solidFill>
                  <a:srgbClr val="000000"/>
                </a:solidFill>
              </a:rPr>
              <a:t>文子扬</a:t>
            </a:r>
            <a:r>
              <a:rPr lang="en-US" sz="1400" b="0" i="0" u="none" strike="noStrike">
                <a:solidFill>
                  <a:srgbClr val="000000"/>
                </a:solidFill>
              </a:rPr>
              <a:t>，我的毕业设计课题是“开源软件漏洞预警平台”。今天，我将从课题概述、技术方案、目前进展和未来计划四个方面进行汇报。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答辩将围绕以上六个部分展开。首先，我会简要介绍课题的背景与意义；接着，详细阐述我的研究内容和技术选型；然后，汇报目前的进展情况；之后是后续的工作计划和潜在风险分析；最后进行总结与致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是课题概述。开源软件虽然是现代信息技术的基石，但随之而来的安全漏洞问题也日益严峻。传统的人工监测手段已难以应对海量的更新信息。因此，我的研究目标是构建一个自动化的漏洞预警平台，利用大语言模型的能力来提升监测效率和实时性。这项研究不仅能为安全从业者提供有力工具，也对探索AI在安全领域的应用具有重要意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研究内容与技术方案。我的工作主要分为四个部分：首先，调研安全补丁的特征，为后续的自动化分析打下基础。其次，实现自动化的数据采集，确保能及时获取开源项目的更新。第三，也是最核心的部分，利用GPT-5和DeepSeek等多个大模型进行智能分析，提升识别的准确率。最后，将分析结果结构化，并通过Web平台进行展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在技术选型上，我选择了业界主流且成熟的技术栈。开发环境使用PyCharm和WebStorm。核心技术方面，除了刚才提到的多个大模型API，后端我会选择Django，前端采用Vue.js和Element UI，数据库则使用MySQL来存储和管理数据。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目前，课题已取得了阶段性进展。我已经完成了大量的文献调研工作，搭建好了全部开发环境，并确定了系统的整体架构方案。这些基础工作为后续的开发奠定了坚实的基础。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核心功能的详细设计方面，我已经完成了数据库的设计，并针对数据采集和大模型分析模块制定了详尽的技术方案。这些设计文档为后续的开发工作提供了清晰的蓝图和指导，确保了技术方案的可行性和严谨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目前，数据采集和大模型分析模块的详细设计已全部完成，并已着手开发。Web平台的原型设计和接口定义也已结束。同时，我也完成了对漏洞严重程度分类和影响范围预测等智能化功能的初步设计，为后续的算法实现打下了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关于后续的进度，我制定了一个详细的计划。在接下来的两周内，我将依据已完成的详细设计，集中进行数据采集和模型分析模块的开发工作。随后，将完成前端开发和系统联调。预计在第5到第8周进行系统集成和测试。最终，我将提交一个功能完备的原型系统、一份数据报告和毕业论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项目推进过程中，我也预判了一些潜在的风险。例如，大模型的分析准确率可能达不到预期，数据采集可能面临效率瓶颈，以及Web平台可能出现性能问题。针对这些风险，我都制定了相应的应对策略，如优化提示词、采用多线程和缓存机制等，以确保项目能够顺利进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最后，对本次汇报进行一个简要的总结。目前，我已经完成了课题的大部分基础工作，包括环境搭建、方案设计</a:t>
            </a:r>
            <a:r>
              <a:rPr lang="zh-CN" altLang="en-US" sz="1400" b="0" i="0" u="none" strike="noStrike">
                <a:solidFill>
                  <a:srgbClr val="000000"/>
                </a:solidFill>
              </a:rPr>
              <a:t>。</a:t>
            </a:r>
            <a:r>
              <a:rPr lang="en-US" sz="1400" b="0" i="0" u="none" strike="noStrike">
                <a:solidFill>
                  <a:srgbClr val="000000"/>
                </a:solidFill>
              </a:rPr>
              <a:t>接下来，我将继续努力，按照计划完成后续的开发和研究工作。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我的汇报到此结束。感谢各位老师的聆听和指导，恳请各位老师提出宝贵的意见和建议。谢谢大家！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2.xml"/><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16.svg"/><Relationship Id="rId8" Type="http://schemas.openxmlformats.org/officeDocument/2006/relationships/image" Target="../media/image15.png"/><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5" Type="http://schemas.openxmlformats.org/officeDocument/2006/relationships/notesSlide" Target="../notesSlides/notesSlide2.xml"/><Relationship Id="rId14" Type="http://schemas.openxmlformats.org/officeDocument/2006/relationships/slideLayout" Target="../slideLayouts/slideLayout12.xml"/><Relationship Id="rId13" Type="http://schemas.openxmlformats.org/officeDocument/2006/relationships/image" Target="../media/image20.svg"/><Relationship Id="rId12" Type="http://schemas.openxmlformats.org/officeDocument/2006/relationships/image" Target="../media/image19.png"/><Relationship Id="rId11" Type="http://schemas.openxmlformats.org/officeDocument/2006/relationships/image" Target="../media/image18.svg"/><Relationship Id="rId10" Type="http://schemas.openxmlformats.org/officeDocument/2006/relationships/image" Target="../media/image17.png"/><Relationship Id="rId1" Type="http://schemas.openxmlformats.org/officeDocument/2006/relationships/image" Target="../media/image8.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27.svg"/><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image" Target="../media/image21.jpeg"/></Relationships>
</file>

<file path=ppt/slides/_rels/slide4.xml.rels><?xml version="1.0" encoding="UTF-8" standalone="yes"?>
<Relationships xmlns="http://schemas.openxmlformats.org/package/2006/relationships"><Relationship Id="rId9" Type="http://schemas.openxmlformats.org/officeDocument/2006/relationships/image" Target="../media/image35.svg"/><Relationship Id="rId8" Type="http://schemas.openxmlformats.org/officeDocument/2006/relationships/image" Target="../media/image34.png"/><Relationship Id="rId7" Type="http://schemas.openxmlformats.org/officeDocument/2006/relationships/image" Target="../media/image33.svg"/><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3" Type="http://schemas.openxmlformats.org/officeDocument/2006/relationships/image" Target="../media/image29.svg"/><Relationship Id="rId2" Type="http://schemas.openxmlformats.org/officeDocument/2006/relationships/image" Target="../media/image28.png"/><Relationship Id="rId11" Type="http://schemas.openxmlformats.org/officeDocument/2006/relationships/notesSlide" Target="../notesSlides/notesSlide4.xml"/><Relationship Id="rId10" Type="http://schemas.openxmlformats.org/officeDocument/2006/relationships/slideLayout" Target="../slideLayouts/slideLayout12.xml"/><Relationship Id="rId1" Type="http://schemas.openxmlformats.org/officeDocument/2006/relationships/image" Target="../media/image21.jpeg"/></Relationships>
</file>

<file path=ppt/slides/_rels/slide5.xml.rels><?xml version="1.0" encoding="UTF-8" standalone="yes"?>
<Relationships xmlns="http://schemas.openxmlformats.org/package/2006/relationships"><Relationship Id="rId9" Type="http://schemas.openxmlformats.org/officeDocument/2006/relationships/image" Target="../media/image43.svg"/><Relationship Id="rId8" Type="http://schemas.openxmlformats.org/officeDocument/2006/relationships/image" Target="../media/image42.png"/><Relationship Id="rId7" Type="http://schemas.openxmlformats.org/officeDocument/2006/relationships/image" Target="../media/image41.svg"/><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 Id="rId3" Type="http://schemas.openxmlformats.org/officeDocument/2006/relationships/image" Target="../media/image37.svg"/><Relationship Id="rId2" Type="http://schemas.openxmlformats.org/officeDocument/2006/relationships/image" Target="../media/image36.png"/><Relationship Id="rId15" Type="http://schemas.openxmlformats.org/officeDocument/2006/relationships/notesSlide" Target="../notesSlides/notesSlide5.xml"/><Relationship Id="rId14" Type="http://schemas.openxmlformats.org/officeDocument/2006/relationships/slideLayout" Target="../slideLayouts/slideLayout12.xml"/><Relationship Id="rId13" Type="http://schemas.openxmlformats.org/officeDocument/2006/relationships/image" Target="../media/image47.svg"/><Relationship Id="rId12" Type="http://schemas.openxmlformats.org/officeDocument/2006/relationships/image" Target="../media/image46.png"/><Relationship Id="rId11" Type="http://schemas.openxmlformats.org/officeDocument/2006/relationships/image" Target="../media/image45.svg"/><Relationship Id="rId10" Type="http://schemas.openxmlformats.org/officeDocument/2006/relationships/image" Target="../media/image44.png"/><Relationship Id="rId1" Type="http://schemas.openxmlformats.org/officeDocument/2006/relationships/image" Target="../media/image21.jpeg"/></Relationships>
</file>

<file path=ppt/slides/_rels/slide6.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49.svg"/><Relationship Id="rId4" Type="http://schemas.openxmlformats.org/officeDocument/2006/relationships/image" Target="../media/image48.png"/><Relationship Id="rId3" Type="http://schemas.openxmlformats.org/officeDocument/2006/relationships/tags" Target="../tags/tag2.xml"/><Relationship Id="rId23" Type="http://schemas.openxmlformats.org/officeDocument/2006/relationships/notesSlide" Target="../notesSlides/notesSlide6.xml"/><Relationship Id="rId22" Type="http://schemas.openxmlformats.org/officeDocument/2006/relationships/slideLayout" Target="../slideLayouts/slideLayout12.xml"/><Relationship Id="rId21" Type="http://schemas.openxmlformats.org/officeDocument/2006/relationships/image" Target="../media/image53.svg"/><Relationship Id="rId20" Type="http://schemas.openxmlformats.org/officeDocument/2006/relationships/image" Target="../media/image52.png"/><Relationship Id="rId2" Type="http://schemas.openxmlformats.org/officeDocument/2006/relationships/tags" Target="../tags/tag1.xml"/><Relationship Id="rId19" Type="http://schemas.openxmlformats.org/officeDocument/2006/relationships/tags" Target="../tags/tag12.xml"/><Relationship Id="rId18" Type="http://schemas.openxmlformats.org/officeDocument/2006/relationships/tags" Target="../tags/tag11.xml"/><Relationship Id="rId17" Type="http://schemas.openxmlformats.org/officeDocument/2006/relationships/image" Target="../media/image51.svg"/><Relationship Id="rId16" Type="http://schemas.openxmlformats.org/officeDocument/2006/relationships/image" Target="../media/image50.png"/><Relationship Id="rId15" Type="http://schemas.openxmlformats.org/officeDocument/2006/relationships/tags" Target="../tags/tag10.xml"/><Relationship Id="rId14" Type="http://schemas.openxmlformats.org/officeDocument/2006/relationships/tags" Target="../tags/tag9.x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image" Target="../media/image25.svg"/><Relationship Id="rId10" Type="http://schemas.openxmlformats.org/officeDocument/2006/relationships/image" Target="../media/image24.png"/><Relationship Id="rId1" Type="http://schemas.openxmlformats.org/officeDocument/2006/relationships/image" Target="../media/image21.jpeg"/></Relationships>
</file>

<file path=ppt/slides/_rels/slide7.xml.rels><?xml version="1.0" encoding="UTF-8" standalone="yes"?>
<Relationships xmlns="http://schemas.openxmlformats.org/package/2006/relationships"><Relationship Id="rId9" Type="http://schemas.openxmlformats.org/officeDocument/2006/relationships/image" Target="../media/image29.svg"/><Relationship Id="rId8" Type="http://schemas.openxmlformats.org/officeDocument/2006/relationships/image" Target="../media/image28.png"/><Relationship Id="rId7" Type="http://schemas.openxmlformats.org/officeDocument/2006/relationships/image" Target="../media/image59.svg"/><Relationship Id="rId6" Type="http://schemas.openxmlformats.org/officeDocument/2006/relationships/image" Target="../media/image58.png"/><Relationship Id="rId5" Type="http://schemas.openxmlformats.org/officeDocument/2006/relationships/image" Target="../media/image57.svg"/><Relationship Id="rId4" Type="http://schemas.openxmlformats.org/officeDocument/2006/relationships/image" Target="../media/image56.png"/><Relationship Id="rId3" Type="http://schemas.openxmlformats.org/officeDocument/2006/relationships/image" Target="../media/image55.svg"/><Relationship Id="rId2" Type="http://schemas.openxmlformats.org/officeDocument/2006/relationships/image" Target="../media/image54.png"/><Relationship Id="rId13" Type="http://schemas.openxmlformats.org/officeDocument/2006/relationships/notesSlide" Target="../notesSlides/notesSlide7.xml"/><Relationship Id="rId12" Type="http://schemas.openxmlformats.org/officeDocument/2006/relationships/slideLayout" Target="../slideLayouts/slideLayout12.xml"/><Relationship Id="rId11" Type="http://schemas.openxmlformats.org/officeDocument/2006/relationships/image" Target="../media/image61.svg"/><Relationship Id="rId10" Type="http://schemas.openxmlformats.org/officeDocument/2006/relationships/image" Target="../media/image60.png"/><Relationship Id="rId1" Type="http://schemas.openxmlformats.org/officeDocument/2006/relationships/image" Target="../media/image21.jpeg"/></Relationships>
</file>

<file path=ppt/slides/_rels/slide8.xml.rels><?xml version="1.0" encoding="UTF-8" standalone="yes"?>
<Relationships xmlns="http://schemas.openxmlformats.org/package/2006/relationships"><Relationship Id="rId9" Type="http://schemas.openxmlformats.org/officeDocument/2006/relationships/image" Target="../media/image23.svg"/><Relationship Id="rId8" Type="http://schemas.openxmlformats.org/officeDocument/2006/relationships/image" Target="../media/image22.png"/><Relationship Id="rId7" Type="http://schemas.openxmlformats.org/officeDocument/2006/relationships/image" Target="../media/image65.svg"/><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 Id="rId3" Type="http://schemas.openxmlformats.org/officeDocument/2006/relationships/image" Target="../media/image57.svg"/><Relationship Id="rId2" Type="http://schemas.openxmlformats.org/officeDocument/2006/relationships/image" Target="../media/image56.png"/><Relationship Id="rId13" Type="http://schemas.openxmlformats.org/officeDocument/2006/relationships/notesSlide" Target="../notesSlides/notesSlide8.xml"/><Relationship Id="rId12" Type="http://schemas.openxmlformats.org/officeDocument/2006/relationships/slideLayout" Target="../slideLayouts/slideLayout12.xml"/><Relationship Id="rId11" Type="http://schemas.openxmlformats.org/officeDocument/2006/relationships/image" Target="../media/image67.svg"/><Relationship Id="rId10" Type="http://schemas.openxmlformats.org/officeDocument/2006/relationships/image" Target="../media/image66.png"/><Relationship Id="rId1" Type="http://schemas.openxmlformats.org/officeDocument/2006/relationships/image" Target="../media/image21.jpeg"/></Relationships>
</file>

<file path=ppt/slides/_rels/slide9.xml.rels><?xml version="1.0" encoding="UTF-8" standalone="yes"?>
<Relationships xmlns="http://schemas.openxmlformats.org/package/2006/relationships"><Relationship Id="rId9" Type="http://schemas.openxmlformats.org/officeDocument/2006/relationships/image" Target="../media/image75.svg"/><Relationship Id="rId8" Type="http://schemas.openxmlformats.org/officeDocument/2006/relationships/image" Target="../media/image74.png"/><Relationship Id="rId7" Type="http://schemas.openxmlformats.org/officeDocument/2006/relationships/image" Target="../media/image73.svg"/><Relationship Id="rId6" Type="http://schemas.openxmlformats.org/officeDocument/2006/relationships/image" Target="../media/image72.png"/><Relationship Id="rId5" Type="http://schemas.openxmlformats.org/officeDocument/2006/relationships/image" Target="../media/image71.svg"/><Relationship Id="rId4" Type="http://schemas.openxmlformats.org/officeDocument/2006/relationships/image" Target="../media/image70.png"/><Relationship Id="rId3" Type="http://schemas.openxmlformats.org/officeDocument/2006/relationships/image" Target="../media/image69.svg"/><Relationship Id="rId2" Type="http://schemas.openxmlformats.org/officeDocument/2006/relationships/image" Target="../media/image68.png"/><Relationship Id="rId11" Type="http://schemas.openxmlformats.org/officeDocument/2006/relationships/notesSlide" Target="../notesSlides/notesSlide9.xml"/><Relationship Id="rId10" Type="http://schemas.openxmlformats.org/officeDocument/2006/relationships/slideLayout" Target="../slideLayouts/slideLayout12.xml"/><Relationship Id="rId1" Type="http://schemas.openxmlformats.org/officeDocument/2006/relationships/image" Target="../media/image21.jpe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2.xml"/><Relationship Id="rId7" Type="http://schemas.openxmlformats.org/officeDocument/2006/relationships/image" Target="../media/image79.svg"/><Relationship Id="rId6" Type="http://schemas.openxmlformats.org/officeDocument/2006/relationships/image" Target="../media/image78.png"/><Relationship Id="rId5" Type="http://schemas.openxmlformats.org/officeDocument/2006/relationships/image" Target="../media/image77.svg"/><Relationship Id="rId4" Type="http://schemas.openxmlformats.org/officeDocument/2006/relationships/image" Target="../media/image76.png"/><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image" Target="../media/image21.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8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16000" y="19050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开源软件漏洞预警平台</a:t>
            </a:r>
            <a:endParaRPr lang="en-US" sz="1100"/>
          </a:p>
        </p:txBody>
      </p:sp>
      <p:sp>
        <p:nvSpPr>
          <p:cNvPr id="5" name="AutoShape 5"/>
          <p:cNvSpPr/>
          <p:nvPr/>
        </p:nvSpPr>
        <p:spPr>
          <a:xfrm>
            <a:off x="5588000" y="2730500"/>
            <a:ext cx="1016000" cy="38100"/>
          </a:xfrm>
          <a:prstGeom prst="roundRect">
            <a:avLst>
              <a:gd name="adj" fmla="val 0"/>
            </a:avLst>
          </a:prstGeom>
          <a:solidFill>
            <a:srgbClr val="003366">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3048000"/>
            <a:ext cx="10160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开题答辩</a:t>
            </a:r>
            <a:endParaRPr lang="en-US" sz="1100"/>
          </a:p>
        </p:txBody>
      </p:sp>
      <p:cxnSp>
        <p:nvCxnSpPr>
          <p:cNvPr id="7" name="Connector 7"/>
          <p:cNvCxnSpPr/>
          <p:nvPr/>
        </p:nvCxnSpPr>
        <p:spPr>
          <a:xfrm rot="-8594">
            <a:off x="3556008" y="3930650"/>
            <a:ext cx="5080016"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56000" y="4318000"/>
            <a:ext cx="254000" cy="254000"/>
          </a:xfrm>
          <a:prstGeom prst="rect">
            <a:avLst/>
          </a:prstGeom>
        </p:spPr>
      </p:pic>
      <p:sp>
        <p:nvSpPr>
          <p:cNvPr id="9" name="AutoShape 9"/>
          <p:cNvSpPr/>
          <p:nvPr/>
        </p:nvSpPr>
        <p:spPr>
          <a:xfrm>
            <a:off x="4000500" y="4318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报告人：</a:t>
            </a:r>
            <a:r>
              <a:rPr lang="zh-CN" alt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文子扬</a:t>
            </a:r>
            <a:endParaRPr lang="zh-CN" alt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56000" y="4889500"/>
            <a:ext cx="254000" cy="254000"/>
          </a:xfrm>
          <a:prstGeom prst="rect">
            <a:avLst/>
          </a:prstGeom>
        </p:spPr>
      </p:pic>
      <p:sp>
        <p:nvSpPr>
          <p:cNvPr id="11" name="AutoShape 11"/>
          <p:cNvSpPr/>
          <p:nvPr/>
        </p:nvSpPr>
        <p:spPr>
          <a:xfrm>
            <a:off x="4000500" y="4889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导　师：</a:t>
            </a:r>
            <a:r>
              <a:rPr lang="zh-CN" alt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刘丁豪</a:t>
            </a:r>
            <a:endParaRPr lang="zh-CN" alt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56000" y="5461000"/>
            <a:ext cx="254000" cy="254000"/>
          </a:xfrm>
          <a:prstGeom prst="rect">
            <a:avLst/>
          </a:prstGeom>
        </p:spPr>
      </p:pic>
      <p:sp>
        <p:nvSpPr>
          <p:cNvPr id="13" name="AutoShape 13"/>
          <p:cNvSpPr/>
          <p:nvPr/>
        </p:nvSpPr>
        <p:spPr>
          <a:xfrm>
            <a:off x="4000500" y="5461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日　期：2025年12月30日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762000" y="508000"/>
            <a:ext cx="508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Poppins"/>
                <a:ea typeface="Poppins"/>
                <a:cs typeface="Poppins"/>
                <a:sym typeface="Poppins"/>
              </a:rPr>
              <a:t>CONTENTS</a:t>
            </a:r>
            <a:endParaRPr lang="en-US" sz="1100"/>
          </a:p>
        </p:txBody>
      </p:sp>
      <p:cxnSp>
        <p:nvCxnSpPr>
          <p:cNvPr id="5" name="Connector 5"/>
          <p:cNvCxnSpPr/>
          <p:nvPr/>
        </p:nvCxnSpPr>
        <p:spPr>
          <a:xfrm rot="-14323">
            <a:off x="762013" y="1263650"/>
            <a:ext cx="3048026" cy="12700"/>
          </a:xfrm>
          <a:prstGeom prst="straightConnector1">
            <a:avLst/>
          </a:prstGeom>
          <a:solidFill>
            <a:srgbClr val="DEE0E3">
              <a:alpha val="100000"/>
            </a:srgbClr>
          </a:solidFill>
          <a:ln w="25400" cap="flat" cmpd="sng">
            <a:solidFill>
              <a:srgbClr val="0078D7">
                <a:alpha val="100000"/>
              </a:srgbClr>
            </a:solidFill>
            <a:prstDash val="solid"/>
            <a:round/>
            <a:headEnd type="none" w="lg" len="lg"/>
            <a:tailEnd type="none" w="lg" len="lg"/>
          </a:ln>
        </p:spPr>
      </p:cxn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778000"/>
            <a:ext cx="304800" cy="304800"/>
          </a:xfrm>
          <a:prstGeom prst="rect">
            <a:avLst/>
          </a:prstGeom>
        </p:spPr>
      </p:pic>
      <p:sp>
        <p:nvSpPr>
          <p:cNvPr id="7" name="AutoShape 7"/>
          <p:cNvSpPr/>
          <p:nvPr/>
        </p:nvSpPr>
        <p:spPr>
          <a:xfrm>
            <a:off x="1320800" y="1803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8D7"/>
                </a:solidFill>
                <a:latin typeface="Poppins"/>
                <a:ea typeface="Poppins"/>
                <a:cs typeface="Poppins"/>
                <a:sym typeface="Poppins"/>
              </a:rPr>
              <a:t>01</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课题概述</a:t>
            </a:r>
            <a:endParaRPr lang="en-US" sz="1100"/>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2540000"/>
            <a:ext cx="304800" cy="304800"/>
          </a:xfrm>
          <a:prstGeom prst="rect">
            <a:avLst/>
          </a:prstGeom>
        </p:spPr>
      </p:pic>
      <p:sp>
        <p:nvSpPr>
          <p:cNvPr id="9" name="AutoShape 9"/>
          <p:cNvSpPr/>
          <p:nvPr/>
        </p:nvSpPr>
        <p:spPr>
          <a:xfrm>
            <a:off x="1320800" y="2565400"/>
            <a:ext cx="444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8D7"/>
                </a:solidFill>
                <a:latin typeface="Poppins"/>
                <a:ea typeface="Poppins"/>
                <a:cs typeface="Poppins"/>
                <a:sym typeface="Poppins"/>
              </a:rPr>
              <a:t>02</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研究内容与技术方案</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3302000"/>
            <a:ext cx="304800" cy="304800"/>
          </a:xfrm>
          <a:prstGeom prst="rect">
            <a:avLst/>
          </a:prstGeom>
        </p:spPr>
      </p:pic>
      <p:sp>
        <p:nvSpPr>
          <p:cNvPr id="11" name="AutoShape 11"/>
          <p:cNvSpPr/>
          <p:nvPr/>
        </p:nvSpPr>
        <p:spPr>
          <a:xfrm>
            <a:off x="1320800" y="3327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8D7"/>
                </a:solidFill>
                <a:latin typeface="Poppins"/>
                <a:ea typeface="Poppins"/>
                <a:cs typeface="Poppins"/>
                <a:sym typeface="Poppins"/>
              </a:rPr>
              <a:t>03</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课题进展情况</a:t>
            </a:r>
            <a:endParaRPr lang="en-US" sz="1100"/>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2000" y="4064000"/>
            <a:ext cx="304800" cy="304800"/>
          </a:xfrm>
          <a:prstGeom prst="rect">
            <a:avLst/>
          </a:prstGeom>
        </p:spPr>
      </p:pic>
      <p:sp>
        <p:nvSpPr>
          <p:cNvPr id="13" name="AutoShape 13"/>
          <p:cNvSpPr/>
          <p:nvPr/>
        </p:nvSpPr>
        <p:spPr>
          <a:xfrm>
            <a:off x="1320800" y="4089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8D7"/>
                </a:solidFill>
                <a:latin typeface="Poppins"/>
                <a:ea typeface="Poppins"/>
                <a:cs typeface="Poppins"/>
                <a:sym typeface="Poppins"/>
              </a:rPr>
              <a:t>04</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后续进度计划</a:t>
            </a:r>
            <a:endParaRPr lang="en-US" sz="1100"/>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62000" y="4826000"/>
            <a:ext cx="304800" cy="304800"/>
          </a:xfrm>
          <a:prstGeom prst="rect">
            <a:avLst/>
          </a:prstGeom>
        </p:spPr>
      </p:pic>
      <p:sp>
        <p:nvSpPr>
          <p:cNvPr id="15" name="AutoShape 15"/>
          <p:cNvSpPr/>
          <p:nvPr/>
        </p:nvSpPr>
        <p:spPr>
          <a:xfrm>
            <a:off x="1320800" y="4851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8D7"/>
                </a:solidFill>
                <a:latin typeface="Poppins"/>
                <a:ea typeface="Poppins"/>
                <a:cs typeface="Poppins"/>
                <a:sym typeface="Poppins"/>
              </a:rPr>
              <a:t>05</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风险与应对</a:t>
            </a:r>
            <a:endParaRPr lang="en-US" sz="1100"/>
          </a:p>
        </p:txBody>
      </p:sp>
      <p:pic>
        <p:nvPicPr>
          <p:cNvPr id="16" name="Picture 1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2000" y="5588000"/>
            <a:ext cx="304800" cy="304800"/>
          </a:xfrm>
          <a:prstGeom prst="rect">
            <a:avLst/>
          </a:prstGeom>
        </p:spPr>
      </p:pic>
      <p:sp>
        <p:nvSpPr>
          <p:cNvPr id="17" name="AutoShape 17"/>
          <p:cNvSpPr/>
          <p:nvPr/>
        </p:nvSpPr>
        <p:spPr>
          <a:xfrm>
            <a:off x="1320800" y="5613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8D7"/>
                </a:solidFill>
                <a:latin typeface="Poppins"/>
                <a:ea typeface="Poppins"/>
                <a:cs typeface="Poppins"/>
                <a:sym typeface="Poppins"/>
              </a:rPr>
              <a:t>06</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总结与致谢</a:t>
            </a:r>
            <a:endParaRPr lang="en-US" sz="1100"/>
          </a:p>
        </p:txBody>
      </p:sp>
      <p:cxnSp>
        <p:nvCxnSpPr>
          <p:cNvPr id="18" name="Connector 18"/>
          <p:cNvCxnSpPr/>
          <p:nvPr/>
        </p:nvCxnSpPr>
        <p:spPr>
          <a:xfrm rot="5389257">
            <a:off x="4063990" y="3803670"/>
            <a:ext cx="4064020" cy="12700"/>
          </a:xfrm>
          <a:prstGeom prst="straightConnector1">
            <a:avLst/>
          </a:prstGeom>
          <a:solidFill>
            <a:srgbClr val="DEE0E3">
              <a:alpha val="100000"/>
            </a:srgbClr>
          </a:solidFill>
          <a:ln w="12700" cap="flat" cmpd="sng">
            <a:solidFill>
              <a:srgbClr val="0078D7">
                <a:alpha val="30000"/>
              </a:srgbClr>
            </a:solidFill>
            <a:prstDash val="dash"/>
            <a:round/>
            <a:headEnd type="none" w="med" len="med"/>
            <a:tailEnd type="none" w="med" len="med"/>
          </a:ln>
        </p:spPr>
      </p:cxnSp>
      <p:sp>
        <p:nvSpPr>
          <p:cNvPr id="19" name="AutoShape 19"/>
          <p:cNvSpPr/>
          <p:nvPr/>
        </p:nvSpPr>
        <p:spPr>
          <a:xfrm>
            <a:off x="6858000" y="2286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03366"/>
                </a:solidFill>
                <a:latin typeface="Poppins"/>
                <a:ea typeface="Poppins"/>
                <a:cs typeface="Poppins"/>
                <a:sym typeface="Poppins"/>
              </a:rPr>
              <a:t>RESEARCH PROGRESS</a:t>
            </a:r>
            <a:endParaRPr lang="en-US" sz="1100"/>
          </a:p>
        </p:txBody>
      </p:sp>
      <p:sp>
        <p:nvSpPr>
          <p:cNvPr id="20" name="AutoShape 20"/>
          <p:cNvSpPr/>
          <p:nvPr/>
        </p:nvSpPr>
        <p:spPr>
          <a:xfrm>
            <a:off x="6858000" y="3048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03366"/>
                </a:solidFill>
                <a:latin typeface="Poppins"/>
                <a:ea typeface="Poppins"/>
                <a:cs typeface="Poppins"/>
                <a:sym typeface="Poppins"/>
              </a:rPr>
              <a:t>REPORT</a:t>
            </a:r>
            <a:endParaRPr lang="en-US" sz="1100"/>
          </a:p>
        </p:txBody>
      </p:sp>
      <p:cxnSp>
        <p:nvCxnSpPr>
          <p:cNvPr id="21" name="Connector 21"/>
          <p:cNvCxnSpPr/>
          <p:nvPr/>
        </p:nvCxnSpPr>
        <p:spPr>
          <a:xfrm rot="-34374">
            <a:off x="6858032" y="3803650"/>
            <a:ext cx="1270063" cy="12700"/>
          </a:xfrm>
          <a:prstGeom prst="straightConnector1">
            <a:avLst/>
          </a:prstGeom>
          <a:solidFill>
            <a:srgbClr val="DEE0E3">
              <a:alpha val="100000"/>
            </a:srgbClr>
          </a:solidFill>
          <a:ln w="25400" cap="flat" cmpd="sng">
            <a:solidFill>
              <a:srgbClr val="0078D7">
                <a:alpha val="100000"/>
              </a:srgbClr>
            </a:solidFill>
            <a:prstDash val="solid"/>
            <a:round/>
            <a:headEnd type="none" w="lg" len="lg"/>
            <a:tailEnd type="none" w="lg" len="lg"/>
          </a:ln>
        </p:spPr>
      </p:cxnSp>
      <p:sp>
        <p:nvSpPr>
          <p:cNvPr id="22" name="AutoShape 22"/>
          <p:cNvSpPr/>
          <p:nvPr/>
        </p:nvSpPr>
        <p:spPr>
          <a:xfrm>
            <a:off x="6858000" y="4064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答辩人：</a:t>
            </a:r>
            <a:r>
              <a:rPr lang="zh-CN" alt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文子扬</a:t>
            </a:r>
            <a:endParaRPr lang="zh-CN" alt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6858000" y="4445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5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Poppins"/>
                <a:ea typeface="Poppins"/>
                <a:cs typeface="Poppins"/>
                <a:sym typeface="Poppins"/>
              </a:rPr>
              <a:t>01 课题概述</a:t>
            </a:r>
            <a:endParaRPr lang="en-US" sz="1100"/>
          </a:p>
        </p:txBody>
      </p:sp>
      <p:cxnSp>
        <p:nvCxnSpPr>
          <p:cNvPr id="4" name="Connector 4"/>
          <p:cNvCxnSpPr/>
          <p:nvPr/>
        </p:nvCxnSpPr>
        <p:spPr>
          <a:xfrm rot="-4092">
            <a:off x="762004" y="1212850"/>
            <a:ext cx="10668008" cy="12700"/>
          </a:xfrm>
          <a:prstGeom prst="straightConnector1">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sp>
        <p:nvSpPr>
          <p:cNvPr id="5" name="AutoShape 5"/>
          <p:cNvSpPr/>
          <p:nvPr/>
        </p:nvSpPr>
        <p:spPr>
          <a:xfrm>
            <a:off x="762000" y="17780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100"/>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336800"/>
            <a:ext cx="406400" cy="406400"/>
          </a:xfrm>
          <a:prstGeom prst="rect">
            <a:avLst/>
          </a:prstGeom>
        </p:spPr>
      </p:pic>
      <p:sp>
        <p:nvSpPr>
          <p:cNvPr id="7" name="AutoShape 7"/>
          <p:cNvSpPr/>
          <p:nvPr/>
        </p:nvSpPr>
        <p:spPr>
          <a:xfrm>
            <a:off x="762000" y="2946400"/>
            <a:ext cx="3302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开源软件是数字基础设施的核心，但安全漏洞频发，传统人工监测效率低下且具滞后性。</a:t>
            </a:r>
            <a:endParaRPr lang="en-US" sz="1100"/>
          </a:p>
        </p:txBody>
      </p:sp>
      <p:sp>
        <p:nvSpPr>
          <p:cNvPr id="8" name="AutoShape 8"/>
          <p:cNvSpPr/>
          <p:nvPr/>
        </p:nvSpPr>
        <p:spPr>
          <a:xfrm>
            <a:off x="4445000" y="17780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研究目标</a:t>
            </a:r>
            <a:endParaRPr lang="en-US" sz="110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45000" y="2336800"/>
            <a:ext cx="406400" cy="406400"/>
          </a:xfrm>
          <a:prstGeom prst="rect">
            <a:avLst/>
          </a:prstGeom>
        </p:spPr>
      </p:pic>
      <p:sp>
        <p:nvSpPr>
          <p:cNvPr id="10" name="AutoShape 10"/>
          <p:cNvSpPr/>
          <p:nvPr/>
        </p:nvSpPr>
        <p:spPr>
          <a:xfrm>
            <a:off x="4445000" y="2946400"/>
            <a:ext cx="3302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设计并实现基于大语言模型的开源软件漏洞预警平台，自动化监测并提供实时预警服务。</a:t>
            </a:r>
            <a:endParaRPr lang="en-US" sz="1100"/>
          </a:p>
        </p:txBody>
      </p:sp>
      <p:sp>
        <p:nvSpPr>
          <p:cNvPr id="11" name="AutoShape 11"/>
          <p:cNvSpPr/>
          <p:nvPr/>
        </p:nvSpPr>
        <p:spPr>
          <a:xfrm>
            <a:off x="8128000" y="17780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endParaRPr lang="en-US" sz="1100"/>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28000" y="2336800"/>
            <a:ext cx="406400" cy="406400"/>
          </a:xfrm>
          <a:prstGeom prst="rect">
            <a:avLst/>
          </a:prstGeom>
        </p:spPr>
      </p:pic>
      <p:sp>
        <p:nvSpPr>
          <p:cNvPr id="13" name="AutoShape 13"/>
          <p:cNvSpPr/>
          <p:nvPr/>
        </p:nvSpPr>
        <p:spPr>
          <a:xfrm>
            <a:off x="8128000" y="2946400"/>
            <a:ext cx="3302000" cy="101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降低社区维护者信息获取成本，探索大语言模型在网络安全监测领域的创新应用模式。</a:t>
            </a:r>
            <a:endParaRPr lang="en-US" sz="1100"/>
          </a:p>
        </p:txBody>
      </p:sp>
      <p:cxnSp>
        <p:nvCxnSpPr>
          <p:cNvPr id="14" name="Connector 14"/>
          <p:cNvCxnSpPr/>
          <p:nvPr/>
        </p:nvCxnSpPr>
        <p:spPr>
          <a:xfrm rot="-4092">
            <a:off x="762004" y="4438650"/>
            <a:ext cx="10668008" cy="12700"/>
          </a:xfrm>
          <a:prstGeom prst="straightConnector1">
            <a:avLst/>
          </a:prstGeom>
          <a:solidFill>
            <a:srgbClr val="DEE0E3">
              <a:alpha val="100000"/>
            </a:srgbClr>
          </a:solidFill>
          <a:ln w="12700" cap="flat" cmpd="sng">
            <a:solidFill>
              <a:srgbClr val="003366">
                <a:alpha val="15000"/>
              </a:srgbClr>
            </a:solidFill>
            <a:prstDash val="dash"/>
            <a:round/>
            <a:headEnd type="none" w="med" len="med"/>
            <a:tailEnd type="none" w="med" len="med"/>
          </a:ln>
        </p:spPr>
      </p:cxnSp>
      <p:sp>
        <p:nvSpPr>
          <p:cNvPr id="15" name="AutoShape 15"/>
          <p:cNvSpPr/>
          <p:nvPr/>
        </p:nvSpPr>
        <p:spPr>
          <a:xfrm>
            <a:off x="762000" y="4826000"/>
            <a:ext cx="10668000" cy="5588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本课题旨在利用AI技术革新开源软件安全监测模式，为构建更安全的数字世界贡献力量。</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5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Poppins"/>
                <a:ea typeface="Poppins"/>
                <a:cs typeface="Poppins"/>
                <a:sym typeface="Poppins"/>
              </a:rPr>
              <a:t>02 研究内容与技术方案</a:t>
            </a:r>
            <a:endParaRPr lang="en-US" sz="1100"/>
          </a:p>
        </p:txBody>
      </p:sp>
      <p:cxnSp>
        <p:nvCxnSpPr>
          <p:cNvPr id="4" name="Connector 4"/>
          <p:cNvCxnSpPr/>
          <p:nvPr/>
        </p:nvCxnSpPr>
        <p:spPr>
          <a:xfrm rot="-4092">
            <a:off x="762004" y="1212850"/>
            <a:ext cx="10668008" cy="12700"/>
          </a:xfrm>
          <a:prstGeom prst="straightConnector1">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sp>
        <p:nvSpPr>
          <p:cNvPr id="5" name="AutoShape 5"/>
          <p:cNvSpPr/>
          <p:nvPr/>
        </p:nvSpPr>
        <p:spPr>
          <a:xfrm>
            <a:off x="762000" y="1524000"/>
            <a:ext cx="5080000" cy="2032000"/>
          </a:xfrm>
          <a:prstGeom prst="roundRect">
            <a:avLst>
              <a:gd name="adj" fmla="val 5000"/>
            </a:avLst>
          </a:prstGeom>
          <a:solidFill>
            <a:srgbClr val="FFFFFF">
              <a:alpha val="100000"/>
            </a:srgbClr>
          </a:solidFill>
          <a:ln w="12700" cap="flat" cmpd="sng">
            <a:solidFill>
              <a:srgbClr val="003366">
                <a:alpha val="30000"/>
              </a:srgbClr>
            </a:solid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78000"/>
            <a:ext cx="406400" cy="406400"/>
          </a:xfrm>
          <a:prstGeom prst="rect">
            <a:avLst/>
          </a:prstGeom>
        </p:spPr>
      </p:pic>
      <p:sp>
        <p:nvSpPr>
          <p:cNvPr id="7" name="AutoShape 7"/>
          <p:cNvSpPr/>
          <p:nvPr/>
        </p:nvSpPr>
        <p:spPr>
          <a:xfrm>
            <a:off x="1625600" y="18288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Poppins"/>
                <a:ea typeface="Poppins"/>
                <a:cs typeface="Poppins"/>
                <a:sym typeface="Poppins"/>
              </a:rPr>
              <a:t>安全补丁特征调研</a:t>
            </a:r>
            <a:endParaRPr lang="en-US" sz="1100"/>
          </a:p>
        </p:txBody>
      </p:sp>
      <p:sp>
        <p:nvSpPr>
          <p:cNvPr id="8" name="AutoShape 8"/>
          <p:cNvSpPr/>
          <p:nvPr/>
        </p:nvSpPr>
        <p:spPr>
          <a:xfrm>
            <a:off x="1625600" y="2235200"/>
            <a:ext cx="4064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分析开源项目补丁命名规范、提交信息格式及关键安全关键词。</a:t>
            </a:r>
            <a:endParaRPr lang="en-US" sz="1100"/>
          </a:p>
        </p:txBody>
      </p:sp>
      <p:sp>
        <p:nvSpPr>
          <p:cNvPr id="9" name="AutoShape 9"/>
          <p:cNvSpPr/>
          <p:nvPr/>
        </p:nvSpPr>
        <p:spPr>
          <a:xfrm>
            <a:off x="6350000" y="1524000"/>
            <a:ext cx="5080000" cy="2032000"/>
          </a:xfrm>
          <a:prstGeom prst="roundRect">
            <a:avLst>
              <a:gd name="adj" fmla="val 5000"/>
            </a:avLst>
          </a:prstGeom>
          <a:solidFill>
            <a:srgbClr val="FFFFFF">
              <a:alpha val="100000"/>
            </a:srgbClr>
          </a:solidFill>
          <a:ln w="12700" cap="flat" cmpd="sng">
            <a:solidFill>
              <a:srgbClr val="003366">
                <a:alpha val="30000"/>
              </a:srgbClr>
            </a:solidFill>
            <a:prstDash val="solid"/>
            <a:round/>
          </a:ln>
        </p:spPr>
        <p:txBody>
          <a:bodyPr vert="horz" wrap="square" lIns="0" tIns="0" rIns="0" bIns="0" rtlCol="0" anchor="ctr" anchorCtr="0"/>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1778000"/>
            <a:ext cx="406400" cy="406400"/>
          </a:xfrm>
          <a:prstGeom prst="rect">
            <a:avLst/>
          </a:prstGeom>
        </p:spPr>
      </p:pic>
      <p:sp>
        <p:nvSpPr>
          <p:cNvPr id="11" name="AutoShape 11"/>
          <p:cNvSpPr/>
          <p:nvPr/>
        </p:nvSpPr>
        <p:spPr>
          <a:xfrm>
            <a:off x="7213600" y="18288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Poppins"/>
                <a:ea typeface="Poppins"/>
                <a:cs typeface="Poppins"/>
                <a:sym typeface="Poppins"/>
              </a:rPr>
              <a:t>自动化数据采集</a:t>
            </a:r>
            <a:endParaRPr lang="en-US" sz="1100"/>
          </a:p>
        </p:txBody>
      </p:sp>
      <p:sp>
        <p:nvSpPr>
          <p:cNvPr id="12" name="AutoShape 12"/>
          <p:cNvSpPr/>
          <p:nvPr/>
        </p:nvSpPr>
        <p:spPr>
          <a:xfrm>
            <a:off x="7213600" y="2235200"/>
            <a:ext cx="4064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基于Git二次开发，实现源代码拉取与增量更新，每日同步commit记录。</a:t>
            </a:r>
            <a:endParaRPr lang="en-US" sz="1100"/>
          </a:p>
        </p:txBody>
      </p:sp>
      <p:sp>
        <p:nvSpPr>
          <p:cNvPr id="13" name="AutoShape 13"/>
          <p:cNvSpPr/>
          <p:nvPr/>
        </p:nvSpPr>
        <p:spPr>
          <a:xfrm>
            <a:off x="762000" y="3810000"/>
            <a:ext cx="5080000" cy="2032000"/>
          </a:xfrm>
          <a:prstGeom prst="roundRect">
            <a:avLst>
              <a:gd name="adj" fmla="val 5000"/>
            </a:avLst>
          </a:prstGeom>
          <a:solidFill>
            <a:srgbClr val="FFFFFF">
              <a:alpha val="100000"/>
            </a:srgbClr>
          </a:solidFill>
          <a:ln w="12700" cap="flat" cmpd="sng">
            <a:solidFill>
              <a:srgbClr val="003366">
                <a:alpha val="30000"/>
              </a:srgbClr>
            </a:solidFill>
            <a:prstDash val="solid"/>
            <a:round/>
          </a:ln>
        </p:spPr>
        <p:txBody>
          <a:bodyPr vert="horz" wrap="square" lIns="0" tIns="0" rIns="0" bIns="0" rtlCol="0" anchor="ctr" anchorCtr="0"/>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064000"/>
            <a:ext cx="406400" cy="406400"/>
          </a:xfrm>
          <a:prstGeom prst="rect">
            <a:avLst/>
          </a:prstGeom>
        </p:spPr>
      </p:pic>
      <p:sp>
        <p:nvSpPr>
          <p:cNvPr id="15" name="AutoShape 15"/>
          <p:cNvSpPr/>
          <p:nvPr/>
        </p:nvSpPr>
        <p:spPr>
          <a:xfrm>
            <a:off x="1625600" y="41148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Poppins"/>
                <a:ea typeface="Poppins"/>
                <a:cs typeface="Poppins"/>
                <a:sym typeface="Poppins"/>
              </a:rPr>
              <a:t>大模型智能分析</a:t>
            </a:r>
            <a:endParaRPr lang="en-US" sz="1100"/>
          </a:p>
        </p:txBody>
      </p:sp>
      <p:sp>
        <p:nvSpPr>
          <p:cNvPr id="16" name="AutoShape 16"/>
          <p:cNvSpPr/>
          <p:nvPr/>
        </p:nvSpPr>
        <p:spPr>
          <a:xfrm>
            <a:off x="1625600" y="4521200"/>
            <a:ext cx="4064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调用多模型复合分析，自动识别安全更新并提取漏洞关键信息。</a:t>
            </a:r>
            <a:endParaRPr lang="en-US" sz="1100"/>
          </a:p>
        </p:txBody>
      </p:sp>
      <p:sp>
        <p:nvSpPr>
          <p:cNvPr id="17" name="AutoShape 17"/>
          <p:cNvSpPr/>
          <p:nvPr/>
        </p:nvSpPr>
        <p:spPr>
          <a:xfrm>
            <a:off x="6350000" y="3810000"/>
            <a:ext cx="5080000" cy="2032000"/>
          </a:xfrm>
          <a:prstGeom prst="roundRect">
            <a:avLst>
              <a:gd name="adj" fmla="val 5000"/>
            </a:avLst>
          </a:prstGeom>
          <a:solidFill>
            <a:srgbClr val="FFFFFF">
              <a:alpha val="100000"/>
            </a:srgbClr>
          </a:solidFill>
          <a:ln w="12700" cap="flat" cmpd="sng">
            <a:solidFill>
              <a:srgbClr val="003366">
                <a:alpha val="30000"/>
              </a:srgbClr>
            </a:solidFill>
            <a:prstDash val="solid"/>
            <a:round/>
          </a:ln>
        </p:spPr>
        <p:txBody>
          <a:bodyPr vert="horz" wrap="square" lIns="0" tIns="0" rIns="0" bIns="0" rtlCol="0" anchor="ctr" anchorCtr="0"/>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4064000"/>
            <a:ext cx="406400" cy="406400"/>
          </a:xfrm>
          <a:prstGeom prst="rect">
            <a:avLst/>
          </a:prstGeom>
        </p:spPr>
      </p:pic>
      <p:sp>
        <p:nvSpPr>
          <p:cNvPr id="19" name="AutoShape 19"/>
          <p:cNvSpPr/>
          <p:nvPr/>
        </p:nvSpPr>
        <p:spPr>
          <a:xfrm>
            <a:off x="7213600" y="41148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Poppins"/>
                <a:ea typeface="Poppins"/>
                <a:cs typeface="Poppins"/>
                <a:sym typeface="Poppins"/>
              </a:rPr>
              <a:t>信息结构化与Web平台</a:t>
            </a:r>
            <a:endParaRPr lang="en-US" sz="1100"/>
          </a:p>
        </p:txBody>
      </p:sp>
      <p:sp>
        <p:nvSpPr>
          <p:cNvPr id="20" name="AutoShape 20"/>
          <p:cNvSpPr/>
          <p:nvPr/>
        </p:nvSpPr>
        <p:spPr>
          <a:xfrm>
            <a:off x="7213600" y="4521200"/>
            <a:ext cx="4064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将commit信息转化为结构化数据，开发基于Flask和Vue.js的可视化平台。</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38888" b="-38888"/>
          </a:stretch>
        </a:blip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Poppins"/>
                <a:ea typeface="Poppins"/>
                <a:cs typeface="Poppins"/>
                <a:sym typeface="Poppins"/>
              </a:rPr>
              <a:t>02 研究内容与技术方案</a:t>
            </a:r>
            <a:endParaRPr lang="en-US" sz="1100"/>
          </a:p>
        </p:txBody>
      </p:sp>
      <p:cxnSp>
        <p:nvCxnSpPr>
          <p:cNvPr id="3" name="Connector 3"/>
          <p:cNvCxnSpPr/>
          <p:nvPr/>
        </p:nvCxnSpPr>
        <p:spPr>
          <a:xfrm rot="-4092">
            <a:off x="762004" y="1200150"/>
            <a:ext cx="10668000" cy="12700"/>
          </a:xfrm>
          <a:prstGeom prst="straightConnector1">
            <a:avLst/>
          </a:prstGeom>
          <a:solidFill>
            <a:srgbClr val="DEE0E3">
              <a:alpha val="100000"/>
            </a:srgbClr>
          </a:solidFill>
          <a:ln w="12700" cap="flat" cmpd="sng">
            <a:solidFill>
              <a:srgbClr val="00BFFF">
                <a:alpha val="30000"/>
              </a:srgbClr>
            </a:solidFill>
            <a:prstDash val="solid"/>
            <a:round/>
            <a:headEnd type="none" w="med" len="med"/>
            <a:tailEnd type="none" w="med" len="med"/>
          </a:ln>
        </p:spPr>
      </p:cxnSp>
      <p:sp>
        <p:nvSpPr>
          <p:cNvPr id="4" name="AutoShape 4"/>
          <p:cNvSpPr/>
          <p:nvPr/>
        </p:nvSpPr>
        <p:spPr>
          <a:xfrm>
            <a:off x="762000" y="1524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Poppins"/>
                <a:ea typeface="Poppins"/>
                <a:cs typeface="Poppins"/>
                <a:sym typeface="Poppins"/>
              </a:rPr>
              <a:t>技术选型</a:t>
            </a:r>
            <a:endParaRPr lang="en-US" sz="1100"/>
          </a:p>
        </p:txBody>
      </p:sp>
      <p:sp>
        <p:nvSpPr>
          <p:cNvPr id="5" name="AutoShape 5"/>
          <p:cNvSpPr/>
          <p:nvPr/>
        </p:nvSpPr>
        <p:spPr>
          <a:xfrm>
            <a:off x="762000" y="2159000"/>
            <a:ext cx="3302000" cy="1651000"/>
          </a:xfrm>
          <a:prstGeom prst="roundRect">
            <a:avLst>
              <a:gd name="adj" fmla="val 6153"/>
            </a:avLst>
          </a:prstGeom>
          <a:solidFill>
            <a:srgbClr val="FFFFFF">
              <a:alpha val="90000"/>
            </a:srgbClr>
          </a:solidFill>
          <a:ln w="12700" cap="flat" cmpd="sng">
            <a:solidFill>
              <a:srgbClr val="00BFFF">
                <a:alpha val="40000"/>
              </a:srgbClr>
            </a:solid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413000"/>
            <a:ext cx="304800" cy="304800"/>
          </a:xfrm>
          <a:prstGeom prst="rect">
            <a:avLst/>
          </a:prstGeom>
        </p:spPr>
      </p:pic>
      <p:sp>
        <p:nvSpPr>
          <p:cNvPr id="7" name="AutoShape 7"/>
          <p:cNvSpPr/>
          <p:nvPr/>
        </p:nvSpPr>
        <p:spPr>
          <a:xfrm>
            <a:off x="1460500" y="2425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开发环境</a:t>
            </a:r>
            <a:endParaRPr lang="en-US" sz="1100"/>
          </a:p>
        </p:txBody>
      </p:sp>
      <p:sp>
        <p:nvSpPr>
          <p:cNvPr id="8" name="AutoShape 8"/>
          <p:cNvSpPr/>
          <p:nvPr/>
        </p:nvSpPr>
        <p:spPr>
          <a:xfrm>
            <a:off x="1016000" y="2921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PyCharm, WebStorm</a:t>
            </a:r>
            <a:endParaRPr lang="en-US" sz="1100"/>
          </a:p>
        </p:txBody>
      </p:sp>
      <p:sp>
        <p:nvSpPr>
          <p:cNvPr id="9" name="AutoShape 9"/>
          <p:cNvSpPr/>
          <p:nvPr/>
        </p:nvSpPr>
        <p:spPr>
          <a:xfrm>
            <a:off x="4445000" y="2159000"/>
            <a:ext cx="3302000" cy="1651000"/>
          </a:xfrm>
          <a:prstGeom prst="roundRect">
            <a:avLst>
              <a:gd name="adj" fmla="val 6153"/>
            </a:avLst>
          </a:prstGeom>
          <a:solidFill>
            <a:srgbClr val="FFFFFF">
              <a:alpha val="90000"/>
            </a:srgbClr>
          </a:solidFill>
          <a:ln w="12700" cap="flat" cmpd="sng">
            <a:solidFill>
              <a:srgbClr val="00BFFF">
                <a:alpha val="40000"/>
              </a:srgbClr>
            </a:solidFill>
            <a:prstDash val="solid"/>
            <a:round/>
          </a:ln>
        </p:spPr>
        <p:txBody>
          <a:bodyPr vert="horz" wrap="square" lIns="0" tIns="0" rIns="0" bIns="0" rtlCol="0" anchor="ctr" anchorCtr="0"/>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413000"/>
            <a:ext cx="304800" cy="304800"/>
          </a:xfrm>
          <a:prstGeom prst="rect">
            <a:avLst/>
          </a:prstGeom>
        </p:spPr>
      </p:pic>
      <p:sp>
        <p:nvSpPr>
          <p:cNvPr id="11" name="AutoShape 11"/>
          <p:cNvSpPr/>
          <p:nvPr/>
        </p:nvSpPr>
        <p:spPr>
          <a:xfrm>
            <a:off x="5143500" y="2425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大模型 API</a:t>
            </a:r>
            <a:endParaRPr lang="en-US" sz="1100"/>
          </a:p>
        </p:txBody>
      </p:sp>
      <p:sp>
        <p:nvSpPr>
          <p:cNvPr id="12" name="AutoShape 12"/>
          <p:cNvSpPr/>
          <p:nvPr/>
        </p:nvSpPr>
        <p:spPr>
          <a:xfrm>
            <a:off x="4699000" y="2921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GPT-5, DeepSeek</a:t>
            </a:r>
            <a:endParaRPr lang="en-US" sz="1100"/>
          </a:p>
        </p:txBody>
      </p:sp>
      <p:sp>
        <p:nvSpPr>
          <p:cNvPr id="13" name="AutoShape 13"/>
          <p:cNvSpPr/>
          <p:nvPr/>
        </p:nvSpPr>
        <p:spPr>
          <a:xfrm>
            <a:off x="8128000" y="2159000"/>
            <a:ext cx="3302000" cy="1651000"/>
          </a:xfrm>
          <a:prstGeom prst="roundRect">
            <a:avLst>
              <a:gd name="adj" fmla="val 6153"/>
            </a:avLst>
          </a:prstGeom>
          <a:solidFill>
            <a:srgbClr val="FFFFFF">
              <a:alpha val="90000"/>
            </a:srgbClr>
          </a:solidFill>
          <a:ln w="12700" cap="flat" cmpd="sng">
            <a:solidFill>
              <a:srgbClr val="00BFFF">
                <a:alpha val="40000"/>
              </a:srgbClr>
            </a:solidFill>
            <a:prstDash val="solid"/>
            <a:round/>
          </a:ln>
        </p:spPr>
        <p:txBody>
          <a:bodyPr vert="horz" wrap="square" lIns="0" tIns="0" rIns="0" bIns="0" rtlCol="0" anchor="ctr" anchorCtr="0"/>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2413000"/>
            <a:ext cx="304800" cy="304800"/>
          </a:xfrm>
          <a:prstGeom prst="rect">
            <a:avLst/>
          </a:prstGeom>
        </p:spPr>
      </p:pic>
      <p:sp>
        <p:nvSpPr>
          <p:cNvPr id="15" name="AutoShape 15"/>
          <p:cNvSpPr/>
          <p:nvPr/>
        </p:nvSpPr>
        <p:spPr>
          <a:xfrm>
            <a:off x="8826500" y="2425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后端框架</a:t>
            </a:r>
            <a:endParaRPr lang="en-US" sz="1100"/>
          </a:p>
        </p:txBody>
      </p:sp>
      <p:sp>
        <p:nvSpPr>
          <p:cNvPr id="16" name="AutoShape 16"/>
          <p:cNvSpPr/>
          <p:nvPr/>
        </p:nvSpPr>
        <p:spPr>
          <a:xfrm>
            <a:off x="8382000" y="2921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Django</a:t>
            </a:r>
            <a:endParaRPr lang="en-US" sz="1100"/>
          </a:p>
        </p:txBody>
      </p:sp>
      <p:sp>
        <p:nvSpPr>
          <p:cNvPr id="17" name="AutoShape 17"/>
          <p:cNvSpPr/>
          <p:nvPr/>
        </p:nvSpPr>
        <p:spPr>
          <a:xfrm>
            <a:off x="762000" y="4064000"/>
            <a:ext cx="3302000" cy="1651000"/>
          </a:xfrm>
          <a:prstGeom prst="roundRect">
            <a:avLst>
              <a:gd name="adj" fmla="val 6153"/>
            </a:avLst>
          </a:prstGeom>
          <a:solidFill>
            <a:srgbClr val="FFFFFF">
              <a:alpha val="90000"/>
            </a:srgbClr>
          </a:solidFill>
          <a:ln w="12700" cap="flat" cmpd="sng">
            <a:solidFill>
              <a:srgbClr val="00BFFF">
                <a:alpha val="40000"/>
              </a:srgbClr>
            </a:solidFill>
            <a:prstDash val="solid"/>
            <a:round/>
          </a:ln>
        </p:spPr>
        <p:txBody>
          <a:bodyPr vert="horz" wrap="square" lIns="0" tIns="0" rIns="0" bIns="0" rtlCol="0" anchor="ctr" anchorCtr="0"/>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318000"/>
            <a:ext cx="304800" cy="304800"/>
          </a:xfrm>
          <a:prstGeom prst="rect">
            <a:avLst/>
          </a:prstGeom>
        </p:spPr>
      </p:pic>
      <p:sp>
        <p:nvSpPr>
          <p:cNvPr id="19" name="AutoShape 19"/>
          <p:cNvSpPr/>
          <p:nvPr/>
        </p:nvSpPr>
        <p:spPr>
          <a:xfrm>
            <a:off x="1460500" y="4330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前端框架</a:t>
            </a:r>
            <a:endParaRPr lang="en-US" sz="1100"/>
          </a:p>
        </p:txBody>
      </p:sp>
      <p:sp>
        <p:nvSpPr>
          <p:cNvPr id="20" name="AutoShape 20"/>
          <p:cNvSpPr/>
          <p:nvPr/>
        </p:nvSpPr>
        <p:spPr>
          <a:xfrm>
            <a:off x="1016000" y="4826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Vue.js / Element UI</a:t>
            </a:r>
            <a:endParaRPr lang="en-US" sz="1100"/>
          </a:p>
        </p:txBody>
      </p:sp>
      <p:sp>
        <p:nvSpPr>
          <p:cNvPr id="21" name="AutoShape 21"/>
          <p:cNvSpPr/>
          <p:nvPr/>
        </p:nvSpPr>
        <p:spPr>
          <a:xfrm>
            <a:off x="4445000" y="4064000"/>
            <a:ext cx="3302000" cy="1651000"/>
          </a:xfrm>
          <a:prstGeom prst="roundRect">
            <a:avLst>
              <a:gd name="adj" fmla="val 6153"/>
            </a:avLst>
          </a:prstGeom>
          <a:solidFill>
            <a:srgbClr val="FFFFFF">
              <a:alpha val="90000"/>
            </a:srgbClr>
          </a:solidFill>
          <a:ln w="12700" cap="flat" cmpd="sng">
            <a:solidFill>
              <a:srgbClr val="00BFFF">
                <a:alpha val="40000"/>
              </a:srgbClr>
            </a:solidFill>
            <a:prstDash val="solid"/>
            <a:round/>
          </a:ln>
        </p:spPr>
        <p:txBody>
          <a:bodyPr vert="horz" wrap="square" lIns="0" tIns="0" rIns="0" bIns="0" rtlCol="0" anchor="ctr" anchorCtr="0"/>
          <a:lstStyle/>
          <a:p>
            <a:pPr algn="ctr">
              <a:defRPr/>
            </a:p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99000" y="4318000"/>
            <a:ext cx="304800" cy="304800"/>
          </a:xfrm>
          <a:prstGeom prst="rect">
            <a:avLst/>
          </a:prstGeom>
        </p:spPr>
      </p:pic>
      <p:sp>
        <p:nvSpPr>
          <p:cNvPr id="23" name="AutoShape 23"/>
          <p:cNvSpPr/>
          <p:nvPr/>
        </p:nvSpPr>
        <p:spPr>
          <a:xfrm>
            <a:off x="5143500" y="4330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数据库</a:t>
            </a:r>
            <a:endParaRPr lang="en-US" sz="1100"/>
          </a:p>
        </p:txBody>
      </p:sp>
      <p:sp>
        <p:nvSpPr>
          <p:cNvPr id="24" name="AutoShape 24"/>
          <p:cNvSpPr/>
          <p:nvPr/>
        </p:nvSpPr>
        <p:spPr>
          <a:xfrm>
            <a:off x="4699000" y="4826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MySQL</a:t>
            </a:r>
            <a:endParaRPr lang="en-US" sz="1100"/>
          </a:p>
        </p:txBody>
      </p:sp>
      <p:sp>
        <p:nvSpPr>
          <p:cNvPr id="25" name="AutoShape 25"/>
          <p:cNvSpPr/>
          <p:nvPr/>
        </p:nvSpPr>
        <p:spPr>
          <a:xfrm>
            <a:off x="8128000" y="4064000"/>
            <a:ext cx="3302000" cy="1651000"/>
          </a:xfrm>
          <a:prstGeom prst="roundRect">
            <a:avLst>
              <a:gd name="adj" fmla="val 6153"/>
            </a:avLst>
          </a:prstGeom>
          <a:solidFill>
            <a:srgbClr val="FFFFFF">
              <a:alpha val="90000"/>
            </a:srgbClr>
          </a:solidFill>
          <a:ln w="12700" cap="flat" cmpd="sng">
            <a:solidFill>
              <a:srgbClr val="00BFFF">
                <a:alpha val="40000"/>
              </a:srgbClr>
            </a:solidFill>
            <a:prstDash val="solid"/>
            <a:round/>
          </a:ln>
        </p:spPr>
        <p:txBody>
          <a:bodyPr vert="horz" wrap="square" lIns="0" tIns="0" rIns="0" bIns="0" rtlCol="0" anchor="ctr" anchorCtr="0"/>
          <a:lstStyle/>
          <a:p>
            <a:pPr algn="ctr">
              <a:defRPr/>
            </a:pPr>
          </a:p>
        </p:txBody>
      </p:sp>
      <p:pic>
        <p:nvPicPr>
          <p:cNvPr id="26" name="Picture 2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82000" y="4318000"/>
            <a:ext cx="304800" cy="304800"/>
          </a:xfrm>
          <a:prstGeom prst="rect">
            <a:avLst/>
          </a:prstGeom>
        </p:spPr>
      </p:pic>
      <p:sp>
        <p:nvSpPr>
          <p:cNvPr id="27" name="AutoShape 27"/>
          <p:cNvSpPr/>
          <p:nvPr/>
        </p:nvSpPr>
        <p:spPr>
          <a:xfrm>
            <a:off x="8826500" y="4330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版本控制</a:t>
            </a:r>
            <a:endParaRPr lang="en-US" sz="1100"/>
          </a:p>
        </p:txBody>
      </p:sp>
      <p:sp>
        <p:nvSpPr>
          <p:cNvPr id="28" name="AutoShape 28"/>
          <p:cNvSpPr/>
          <p:nvPr/>
        </p:nvSpPr>
        <p:spPr>
          <a:xfrm>
            <a:off x="8382000" y="48260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Git</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5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Poppins"/>
                <a:ea typeface="Poppins"/>
                <a:cs typeface="Poppins"/>
                <a:sym typeface="Poppins"/>
              </a:rPr>
              <a:t>03 课题进展情况</a:t>
            </a:r>
            <a:endParaRPr lang="en-US" sz="1100"/>
          </a:p>
        </p:txBody>
      </p:sp>
      <p:cxnSp>
        <p:nvCxnSpPr>
          <p:cNvPr id="5" name="Connector 5"/>
          <p:cNvCxnSpPr/>
          <p:nvPr/>
        </p:nvCxnSpPr>
        <p:spPr>
          <a:xfrm rot="-4092">
            <a:off x="762004" y="1212850"/>
            <a:ext cx="10668008" cy="12700"/>
          </a:xfrm>
          <a:prstGeom prst="straightConnector1">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sp>
        <p:nvSpPr>
          <p:cNvPr id="6" name="AutoShape 6"/>
          <p:cNvSpPr/>
          <p:nvPr>
            <p:custDataLst>
              <p:tags r:id="rId2"/>
            </p:custDataLst>
          </p:nvPr>
        </p:nvSpPr>
        <p:spPr>
          <a:xfrm>
            <a:off x="762000" y="1778000"/>
            <a:ext cx="3302000" cy="2794000"/>
          </a:xfrm>
          <a:prstGeom prst="roundRect">
            <a:avLst>
              <a:gd name="adj" fmla="val 3636"/>
            </a:avLst>
          </a:prstGeom>
          <a:solidFill>
            <a:srgbClr val="FFFFFF">
              <a:alpha val="100000"/>
            </a:srgbClr>
          </a:solidFill>
          <a:ln w="12700" cap="flat" cmpd="sng">
            <a:solidFill>
              <a:srgbClr val="003366">
                <a:alpha val="30000"/>
              </a:srgbClr>
            </a:solidFill>
            <a:prstDash val="solid"/>
            <a:round/>
          </a:ln>
        </p:spPr>
        <p:txBody>
          <a:bodyPr vert="horz" wrap="square" lIns="0" tIns="0" rIns="0" bIns="0" rtlCol="0" anchor="ctr" anchorCtr="0"/>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82800"/>
            <a:ext cx="406400" cy="406400"/>
          </a:xfrm>
          <a:prstGeom prst="rect">
            <a:avLst/>
          </a:prstGeom>
        </p:spPr>
      </p:pic>
      <p:sp>
        <p:nvSpPr>
          <p:cNvPr id="8" name="AutoShape 8"/>
          <p:cNvSpPr/>
          <p:nvPr>
            <p:custDataLst>
              <p:tags r:id="rId6"/>
            </p:custDataLst>
          </p:nvPr>
        </p:nvSpPr>
        <p:spPr>
          <a:xfrm>
            <a:off x="1016000" y="26924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资料查阅</a:t>
            </a:r>
            <a:endParaRPr lang="en-US" sz="1100"/>
          </a:p>
        </p:txBody>
      </p:sp>
      <p:sp>
        <p:nvSpPr>
          <p:cNvPr id="9" name="AutoShape 9"/>
          <p:cNvSpPr/>
          <p:nvPr>
            <p:custDataLst>
              <p:tags r:id="rId7"/>
            </p:custDataLst>
          </p:nvPr>
        </p:nvSpPr>
        <p:spPr>
          <a:xfrm>
            <a:off x="1016000" y="3149600"/>
            <a:ext cx="2794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研读</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了几</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篇文献，梳理开源软件补丁特征与命名规范。</a:t>
            </a:r>
            <a:endParaRPr lang="en-US" sz="1100"/>
          </a:p>
        </p:txBody>
      </p:sp>
      <p:sp>
        <p:nvSpPr>
          <p:cNvPr id="10" name="AutoShape 10"/>
          <p:cNvSpPr/>
          <p:nvPr>
            <p:custDataLst>
              <p:tags r:id="rId8"/>
            </p:custDataLst>
          </p:nvPr>
        </p:nvSpPr>
        <p:spPr>
          <a:xfrm>
            <a:off x="4445000" y="1778000"/>
            <a:ext cx="3302000" cy="2794000"/>
          </a:xfrm>
          <a:prstGeom prst="roundRect">
            <a:avLst>
              <a:gd name="adj" fmla="val 3636"/>
            </a:avLst>
          </a:prstGeom>
          <a:solidFill>
            <a:srgbClr val="FFFFFF">
              <a:alpha val="100000"/>
            </a:srgbClr>
          </a:solidFill>
          <a:ln w="12700" cap="flat" cmpd="sng">
            <a:solidFill>
              <a:srgbClr val="003366">
                <a:alpha val="30000"/>
              </a:srgbClr>
            </a:solidFill>
            <a:prstDash val="solid"/>
            <a:round/>
          </a:ln>
        </p:spPr>
        <p:txBody>
          <a:bodyPr vert="horz" wrap="square" lIns="0" tIns="0" rIns="0" bIns="0" rtlCol="0" anchor="ctr" anchorCtr="0"/>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99000" y="2082800"/>
            <a:ext cx="406400" cy="406400"/>
          </a:xfrm>
          <a:prstGeom prst="rect">
            <a:avLst/>
          </a:prstGeom>
        </p:spPr>
      </p:pic>
      <p:sp>
        <p:nvSpPr>
          <p:cNvPr id="12" name="AutoShape 12"/>
          <p:cNvSpPr/>
          <p:nvPr>
            <p:custDataLst>
              <p:tags r:id="rId12"/>
            </p:custDataLst>
          </p:nvPr>
        </p:nvSpPr>
        <p:spPr>
          <a:xfrm>
            <a:off x="4699000" y="26924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开发环境搭建</a:t>
            </a:r>
            <a:endParaRPr lang="en-US" sz="1100"/>
          </a:p>
        </p:txBody>
      </p:sp>
      <p:sp>
        <p:nvSpPr>
          <p:cNvPr id="13" name="AutoShape 13"/>
          <p:cNvSpPr/>
          <p:nvPr>
            <p:custDataLst>
              <p:tags r:id="rId13"/>
            </p:custDataLst>
          </p:nvPr>
        </p:nvSpPr>
        <p:spPr>
          <a:xfrm>
            <a:off x="4699000" y="3149600"/>
            <a:ext cx="2794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完成IDE、数据库部署，并成功调用GPT-5及DeepSeek API。</a:t>
            </a:r>
            <a:endParaRPr lang="en-US" sz="1100"/>
          </a:p>
        </p:txBody>
      </p:sp>
      <p:sp>
        <p:nvSpPr>
          <p:cNvPr id="14" name="AutoShape 14"/>
          <p:cNvSpPr/>
          <p:nvPr>
            <p:custDataLst>
              <p:tags r:id="rId14"/>
            </p:custDataLst>
          </p:nvPr>
        </p:nvSpPr>
        <p:spPr>
          <a:xfrm>
            <a:off x="8128000" y="1778000"/>
            <a:ext cx="3302000" cy="2794000"/>
          </a:xfrm>
          <a:prstGeom prst="roundRect">
            <a:avLst>
              <a:gd name="adj" fmla="val 3636"/>
            </a:avLst>
          </a:prstGeom>
          <a:solidFill>
            <a:srgbClr val="FFFFFF">
              <a:alpha val="100000"/>
            </a:srgbClr>
          </a:solidFill>
          <a:ln w="12700" cap="flat" cmpd="sng">
            <a:solidFill>
              <a:srgbClr val="003366">
                <a:alpha val="30000"/>
              </a:srgbClr>
            </a:solidFill>
            <a:prstDash val="solid"/>
            <a:round/>
          </a:ln>
        </p:spPr>
        <p:txBody>
          <a:bodyPr vert="horz" wrap="square" lIns="0" tIns="0" rIns="0" bIns="0" rtlCol="0" anchor="ctr" anchorCtr="0"/>
          <a:lstStyle/>
          <a:p>
            <a:pPr algn="ctr">
              <a:defRPr/>
            </a:pPr>
          </a:p>
        </p:txBody>
      </p:sp>
      <p:pic>
        <p:nvPicPr>
          <p:cNvPr id="15" name="Picture 15"/>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82000" y="2082800"/>
            <a:ext cx="406400" cy="406400"/>
          </a:xfrm>
          <a:prstGeom prst="rect">
            <a:avLst/>
          </a:prstGeom>
        </p:spPr>
      </p:pic>
      <p:sp>
        <p:nvSpPr>
          <p:cNvPr id="16" name="AutoShape 16"/>
          <p:cNvSpPr/>
          <p:nvPr>
            <p:custDataLst>
              <p:tags r:id="rId18"/>
            </p:custDataLst>
          </p:nvPr>
        </p:nvSpPr>
        <p:spPr>
          <a:xfrm>
            <a:off x="8382000" y="26924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总体方案确定</a:t>
            </a:r>
            <a:endParaRPr lang="en-US" sz="1100"/>
          </a:p>
        </p:txBody>
      </p:sp>
      <p:sp>
        <p:nvSpPr>
          <p:cNvPr id="17" name="AutoShape 17"/>
          <p:cNvSpPr/>
          <p:nvPr>
            <p:custDataLst>
              <p:tags r:id="rId19"/>
            </p:custDataLst>
          </p:nvPr>
        </p:nvSpPr>
        <p:spPr>
          <a:xfrm>
            <a:off x="8382000" y="3149600"/>
            <a:ext cx="2794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明确四层架构，绘制模块交互逻辑图，方案已定型。</a:t>
            </a:r>
            <a:endParaRPr lang="en-US" sz="1100"/>
          </a:p>
        </p:txBody>
      </p:sp>
      <p:cxnSp>
        <p:nvCxnSpPr>
          <p:cNvPr id="18" name="Connector 18"/>
          <p:cNvCxnSpPr/>
          <p:nvPr/>
        </p:nvCxnSpPr>
        <p:spPr>
          <a:xfrm rot="-4092">
            <a:off x="762004" y="4946650"/>
            <a:ext cx="10668008" cy="12700"/>
          </a:xfrm>
          <a:prstGeom prst="straightConnector1">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pic>
        <p:nvPicPr>
          <p:cNvPr id="19" name="Picture 19"/>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62000" y="5334000"/>
            <a:ext cx="304800" cy="304800"/>
          </a:xfrm>
          <a:prstGeom prst="rect">
            <a:avLst/>
          </a:prstGeom>
        </p:spPr>
      </p:pic>
      <p:sp>
        <p:nvSpPr>
          <p:cNvPr id="20" name="AutoShape 20"/>
          <p:cNvSpPr/>
          <p:nvPr/>
        </p:nvSpPr>
        <p:spPr>
          <a:xfrm>
            <a:off x="1270000" y="5334000"/>
            <a:ext cx="990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阶段性成果：</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已完成文献调研、环境搭建与架构设计，为后续开发奠定坚实基础。</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5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Poppins"/>
                <a:ea typeface="Poppins"/>
                <a:cs typeface="Poppins"/>
                <a:sym typeface="Poppins"/>
              </a:rPr>
              <a:t>03 课题进展情况</a:t>
            </a:r>
            <a:endParaRPr lang="en-US" sz="1100"/>
          </a:p>
        </p:txBody>
      </p:sp>
      <p:cxnSp>
        <p:nvCxnSpPr>
          <p:cNvPr id="4" name="Connector 4"/>
          <p:cNvCxnSpPr/>
          <p:nvPr/>
        </p:nvCxnSpPr>
        <p:spPr>
          <a:xfrm rot="-4092">
            <a:off x="762004" y="1212850"/>
            <a:ext cx="10668008"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sp>
        <p:nvSpPr>
          <p:cNvPr id="5" name="AutoShape 5"/>
          <p:cNvSpPr/>
          <p:nvPr/>
        </p:nvSpPr>
        <p:spPr>
          <a:xfrm>
            <a:off x="762000" y="16002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Poppins"/>
                <a:ea typeface="Poppins"/>
                <a:cs typeface="Poppins"/>
                <a:sym typeface="Poppins"/>
              </a:rPr>
              <a:t>数据库设计</a:t>
            </a:r>
            <a:endParaRPr lang="en-US" sz="1100"/>
          </a:p>
        </p:txBody>
      </p:sp>
      <p:sp>
        <p:nvSpPr>
          <p:cNvPr id="6" name="AutoShape 6"/>
          <p:cNvSpPr/>
          <p:nvPr/>
        </p:nvSpPr>
        <p:spPr>
          <a:xfrm>
            <a:off x="762000" y="2184400"/>
            <a:ext cx="5080000" cy="1143000"/>
          </a:xfrm>
          <a:prstGeom prst="roundRect">
            <a:avLst>
              <a:gd name="adj" fmla="val 8888"/>
            </a:avLst>
          </a:prstGeom>
          <a:solidFill>
            <a:srgbClr val="FFFFFF">
              <a:alpha val="100000"/>
            </a:srgbClr>
          </a:solidFill>
          <a:ln w="12700" cap="flat" cmpd="sng">
            <a:solidFill>
              <a:srgbClr val="003366">
                <a:alpha val="20000"/>
              </a:srgbClr>
            </a:solidFill>
            <a:prstDash val="solid"/>
            <a:round/>
          </a:ln>
        </p:spPr>
        <p:txBody>
          <a:bodyPr vert="horz" wrap="square" lIns="0" tIns="0" rIns="0" bIns="0" rtlCol="0" anchor="ctr" anchorCtr="0"/>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5200" y="2387600"/>
            <a:ext cx="304800" cy="304800"/>
          </a:xfrm>
          <a:prstGeom prst="rect">
            <a:avLst/>
          </a:prstGeom>
        </p:spPr>
      </p:pic>
      <p:sp>
        <p:nvSpPr>
          <p:cNvPr id="8" name="AutoShape 8"/>
          <p:cNvSpPr/>
          <p:nvPr/>
        </p:nvSpPr>
        <p:spPr>
          <a:xfrm>
            <a:off x="1473200" y="2400300"/>
            <a:ext cx="381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核心数据表设计</a:t>
            </a:r>
            <a:endParaRPr lang="en-US" sz="1100"/>
          </a:p>
        </p:txBody>
      </p:sp>
      <p:sp>
        <p:nvSpPr>
          <p:cNvPr id="9" name="AutoShape 9"/>
          <p:cNvSpPr/>
          <p:nvPr/>
        </p:nvSpPr>
        <p:spPr>
          <a:xfrm>
            <a:off x="1473200" y="27305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完成commit、漏洞及补丁详情表设计。</a:t>
            </a:r>
            <a:endParaRPr lang="en-US" sz="1100"/>
          </a:p>
        </p:txBody>
      </p:sp>
      <p:sp>
        <p:nvSpPr>
          <p:cNvPr id="10" name="AutoShape 10"/>
          <p:cNvSpPr/>
          <p:nvPr/>
        </p:nvSpPr>
        <p:spPr>
          <a:xfrm>
            <a:off x="762000" y="3581400"/>
            <a:ext cx="5080000" cy="1143000"/>
          </a:xfrm>
          <a:prstGeom prst="roundRect">
            <a:avLst>
              <a:gd name="adj" fmla="val 8888"/>
            </a:avLst>
          </a:prstGeom>
          <a:solidFill>
            <a:srgbClr val="FFFFFF">
              <a:alpha val="100000"/>
            </a:srgbClr>
          </a:solidFill>
          <a:ln w="12700" cap="flat" cmpd="sng">
            <a:solidFill>
              <a:srgbClr val="003366">
                <a:alpha val="20000"/>
              </a:srgbClr>
            </a:solidFill>
            <a:prstDash val="solid"/>
            <a:round/>
          </a:ln>
        </p:spPr>
        <p:txBody>
          <a:bodyPr vert="horz" wrap="square" lIns="0" tIns="0" rIns="0" bIns="0" rtlCol="0" anchor="ctr" anchorCtr="0"/>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5200" y="3784600"/>
            <a:ext cx="304800" cy="304800"/>
          </a:xfrm>
          <a:prstGeom prst="rect">
            <a:avLst/>
          </a:prstGeom>
        </p:spPr>
      </p:pic>
      <p:sp>
        <p:nvSpPr>
          <p:cNvPr id="12" name="AutoShape 12"/>
          <p:cNvSpPr/>
          <p:nvPr/>
        </p:nvSpPr>
        <p:spPr>
          <a:xfrm>
            <a:off x="1473200" y="3797300"/>
            <a:ext cx="381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数据读写功能</a:t>
            </a:r>
            <a:endParaRPr lang="en-US" sz="1100"/>
          </a:p>
        </p:txBody>
      </p:sp>
      <p:sp>
        <p:nvSpPr>
          <p:cNvPr id="13" name="AutoShape 13"/>
          <p:cNvSpPr/>
          <p:nvPr/>
        </p:nvSpPr>
        <p:spPr>
          <a:xfrm>
            <a:off x="1473200" y="4127500"/>
            <a:ext cx="4064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Poppins"/>
                <a:ea typeface="Poppins"/>
                <a:cs typeface="Poppins"/>
                <a:sym typeface="Poppins"/>
              </a:rPr>
              <a:t>实现基础数据的增删改查与持久化存储。</a:t>
            </a:r>
            <a:endParaRPr lang="en-US" sz="1100"/>
          </a:p>
        </p:txBody>
      </p:sp>
      <p:cxnSp>
        <p:nvCxnSpPr>
          <p:cNvPr id="14" name="Connector 14"/>
          <p:cNvCxnSpPr/>
          <p:nvPr/>
        </p:nvCxnSpPr>
        <p:spPr>
          <a:xfrm rot="5386025">
            <a:off x="4533887" y="3155976"/>
            <a:ext cx="3124226" cy="12700"/>
          </a:xfrm>
          <a:prstGeom prst="straightConnector1">
            <a:avLst/>
          </a:prstGeom>
          <a:solidFill>
            <a:srgbClr val="DEE0E3">
              <a:alpha val="100000"/>
            </a:srgbClr>
          </a:solidFill>
          <a:ln w="12700" cap="flat" cmpd="sng">
            <a:solidFill>
              <a:srgbClr val="003366">
                <a:alpha val="20000"/>
              </a:srgbClr>
            </a:solidFill>
            <a:prstDash val="dash"/>
            <a:round/>
            <a:headEnd type="none" w="med" len="med"/>
            <a:tailEnd type="none" w="med" len="med"/>
          </a:ln>
        </p:spPr>
      </p:cxnSp>
      <p:sp>
        <p:nvSpPr>
          <p:cNvPr id="15" name="AutoShape 15"/>
          <p:cNvSpPr/>
          <p:nvPr/>
        </p:nvSpPr>
        <p:spPr>
          <a:xfrm>
            <a:off x="6604000" y="16002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Poppins"/>
                <a:ea typeface="Poppins"/>
                <a:cs typeface="Poppins"/>
                <a:sym typeface="Poppins"/>
              </a:rPr>
              <a:t>详细设计</a:t>
            </a:r>
            <a:endParaRPr lang="en-US" sz="1100"/>
          </a:p>
        </p:txBody>
      </p:sp>
      <p:sp>
        <p:nvSpPr>
          <p:cNvPr id="16" name="AutoShape 16"/>
          <p:cNvSpPr/>
          <p:nvPr/>
        </p:nvSpPr>
        <p:spPr>
          <a:xfrm>
            <a:off x="6604000" y="2057400"/>
            <a:ext cx="5080000" cy="1397000"/>
          </a:xfrm>
          <a:prstGeom prst="roundRect">
            <a:avLst>
              <a:gd name="adj" fmla="val 7272"/>
            </a:avLst>
          </a:prstGeom>
          <a:solidFill>
            <a:srgbClr val="FFFFFF">
              <a:alpha val="100000"/>
            </a:srgbClr>
          </a:solidFill>
          <a:ln w="12700" cap="flat" cmpd="sng">
            <a:solidFill>
              <a:srgbClr val="003366">
                <a:alpha val="20000"/>
              </a:srgbClr>
            </a:solidFill>
            <a:prstDash val="solid"/>
            <a:round/>
          </a:ln>
        </p:spPr>
        <p:txBody>
          <a:bodyPr vert="horz" wrap="square" lIns="0" tIns="0" rIns="0" bIns="0" rtlCol="0" anchor="ctr" anchorCtr="0"/>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07200" y="2260600"/>
            <a:ext cx="304800" cy="304800"/>
          </a:xfrm>
          <a:prstGeom prst="rect">
            <a:avLst/>
          </a:prstGeom>
        </p:spPr>
      </p:pic>
      <p:sp>
        <p:nvSpPr>
          <p:cNvPr id="18" name="AutoShape 18"/>
          <p:cNvSpPr/>
          <p:nvPr/>
        </p:nvSpPr>
        <p:spPr>
          <a:xfrm>
            <a:off x="7315200" y="22733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Git数据采集模块设计</a:t>
            </a:r>
            <a:endParaRPr lang="en-US" sz="1100"/>
          </a:p>
        </p:txBody>
      </p:sp>
      <p:sp>
        <p:nvSpPr>
          <p:cNvPr id="19" name="AutoShape 19"/>
          <p:cNvSpPr/>
          <p:nvPr/>
        </p:nvSpPr>
        <p:spPr>
          <a:xfrm>
            <a:off x="7315200" y="2628900"/>
            <a:ext cx="4318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Poppins"/>
                <a:ea typeface="Poppins"/>
                <a:cs typeface="Poppins"/>
                <a:sym typeface="Poppins"/>
              </a:rPr>
              <a:t>已完成详细的技术方案设计，包括Git仓库连接池管理、增量更新算法（基于commit ID比对）、多线程任务调度等核心机制的设计文档。</a:t>
            </a:r>
            <a:endParaRPr lang="en-US" sz="1100"/>
          </a:p>
        </p:txBody>
      </p:sp>
      <p:sp>
        <p:nvSpPr>
          <p:cNvPr id="20" name="AutoShape 20"/>
          <p:cNvSpPr/>
          <p:nvPr/>
        </p:nvSpPr>
        <p:spPr>
          <a:xfrm>
            <a:off x="6604000" y="3581400"/>
            <a:ext cx="5080000" cy="1397000"/>
          </a:xfrm>
          <a:prstGeom prst="roundRect">
            <a:avLst>
              <a:gd name="adj" fmla="val 7272"/>
            </a:avLst>
          </a:prstGeom>
          <a:solidFill>
            <a:srgbClr val="FFFFFF">
              <a:alpha val="100000"/>
            </a:srgbClr>
          </a:solidFill>
          <a:ln w="12700" cap="flat" cmpd="sng">
            <a:solidFill>
              <a:srgbClr val="003366">
                <a:alpha val="20000"/>
              </a:srgbClr>
            </a:solidFill>
            <a:prstDash val="solid"/>
            <a:round/>
          </a:ln>
        </p:spPr>
        <p:txBody>
          <a:bodyPr vert="horz" wrap="square" lIns="0" tIns="0" rIns="0" bIns="0" rtlCol="0" anchor="ctr" anchorCtr="0"/>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807200" y="3784600"/>
            <a:ext cx="304800" cy="304800"/>
          </a:xfrm>
          <a:prstGeom prst="rect">
            <a:avLst/>
          </a:prstGeom>
        </p:spPr>
      </p:pic>
      <p:sp>
        <p:nvSpPr>
          <p:cNvPr id="22" name="AutoShape 22"/>
          <p:cNvSpPr/>
          <p:nvPr/>
        </p:nvSpPr>
        <p:spPr>
          <a:xfrm>
            <a:off x="7315200" y="37973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Poppins"/>
                <a:ea typeface="Poppins"/>
                <a:cs typeface="Poppins"/>
                <a:sym typeface="Poppins"/>
              </a:rPr>
              <a:t>大模型分析模块设计</a:t>
            </a:r>
            <a:endParaRPr lang="en-US" sz="1100"/>
          </a:p>
        </p:txBody>
      </p:sp>
      <p:sp>
        <p:nvSpPr>
          <p:cNvPr id="23" name="AutoShape 23"/>
          <p:cNvSpPr/>
          <p:nvPr/>
        </p:nvSpPr>
        <p:spPr>
          <a:xfrm>
            <a:off x="7315200" y="4152900"/>
            <a:ext cx="4318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Poppins"/>
                <a:ea typeface="Poppins"/>
                <a:cs typeface="Poppins"/>
                <a:sym typeface="Poppins"/>
              </a:rPr>
              <a:t>已完成API调用策略（包含超时重试、失败降级）、多模型（GPT-5/DeepSeek）请求分发逻辑、以及分析结果的融合与校验规则的详细设计。</a:t>
            </a:r>
            <a:endParaRPr lang="en-US" sz="1100"/>
          </a:p>
        </p:txBody>
      </p:sp>
      <p:cxnSp>
        <p:nvCxnSpPr>
          <p:cNvPr id="24" name="Connector 24"/>
          <p:cNvCxnSpPr/>
          <p:nvPr/>
        </p:nvCxnSpPr>
        <p:spPr>
          <a:xfrm rot="-4092">
            <a:off x="762004" y="4972050"/>
            <a:ext cx="10668008"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pic>
        <p:nvPicPr>
          <p:cNvPr id="25" name="Picture 2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62000" y="5359400"/>
            <a:ext cx="304800" cy="304800"/>
          </a:xfrm>
          <a:prstGeom prst="rect">
            <a:avLst/>
          </a:prstGeom>
        </p:spPr>
      </p:pic>
      <p:sp>
        <p:nvSpPr>
          <p:cNvPr id="26" name="AutoShape 26"/>
          <p:cNvSpPr/>
          <p:nvPr/>
        </p:nvSpPr>
        <p:spPr>
          <a:xfrm>
            <a:off x="1270000" y="5372100"/>
            <a:ext cx="990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Poppins"/>
                <a:ea typeface="Poppins"/>
                <a:cs typeface="Poppins"/>
                <a:sym typeface="Poppins"/>
              </a:rPr>
              <a:t>结论：</a:t>
            </a:r>
            <a:r>
              <a:rPr lang="en-US" sz="1400" b="0" i="0" u="none" strike="noStrike">
                <a:solidFill>
                  <a:srgbClr val="333333"/>
                </a:solidFill>
                <a:latin typeface="Poppins"/>
                <a:ea typeface="Poppins"/>
                <a:cs typeface="Poppins"/>
                <a:sym typeface="Poppins"/>
              </a:rPr>
              <a:t>技术方案已通过初步验证，核心功能模块开发顺利，证明方案具备可行性。</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7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8F9FA">
              <a:alpha val="9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Poppins"/>
                <a:ea typeface="Poppins"/>
                <a:cs typeface="Poppins"/>
                <a:sym typeface="Poppins"/>
              </a:rPr>
              <a:t>03 课题进展情况</a:t>
            </a:r>
            <a:endParaRPr lang="en-US" sz="1100"/>
          </a:p>
        </p:txBody>
      </p:sp>
      <p:cxnSp>
        <p:nvCxnSpPr>
          <p:cNvPr id="5" name="Connector 5"/>
          <p:cNvCxnSpPr/>
          <p:nvPr/>
        </p:nvCxnSpPr>
        <p:spPr>
          <a:xfrm rot="-4092">
            <a:off x="762004" y="1212850"/>
            <a:ext cx="10668008" cy="12700"/>
          </a:xfrm>
          <a:prstGeom prst="straightConnector1">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sp>
        <p:nvSpPr>
          <p:cNvPr id="6" name="AutoShape 6"/>
          <p:cNvSpPr/>
          <p:nvPr/>
        </p:nvSpPr>
        <p:spPr>
          <a:xfrm>
            <a:off x="762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Poppins"/>
                <a:ea typeface="Poppins"/>
                <a:cs typeface="Poppins"/>
                <a:sym typeface="Poppins"/>
              </a:rPr>
              <a:t>模块设计与智能化</a:t>
            </a:r>
            <a:endParaRPr lang="en-US" sz="1100"/>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159000"/>
            <a:ext cx="304800" cy="304800"/>
          </a:xfrm>
          <a:prstGeom prst="rect">
            <a:avLst/>
          </a:prstGeom>
        </p:spPr>
      </p:pic>
      <p:sp>
        <p:nvSpPr>
          <p:cNvPr id="8" name="AutoShape 8"/>
          <p:cNvSpPr/>
          <p:nvPr/>
        </p:nvSpPr>
        <p:spPr>
          <a:xfrm>
            <a:off x="1270000" y="2159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数据采集模块</a:t>
            </a:r>
            <a:endParaRPr lang="en-US" sz="1100"/>
          </a:p>
        </p:txBody>
      </p:sp>
      <p:sp>
        <p:nvSpPr>
          <p:cNvPr id="9" name="AutoShape 9"/>
          <p:cNvSpPr/>
          <p:nvPr/>
        </p:nvSpPr>
        <p:spPr>
          <a:xfrm>
            <a:off x="1270000" y="25400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详细设计已完成，进入开发阶段。</a:t>
            </a:r>
            <a:endParaRPr lang="en-US" sz="1100"/>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3352800"/>
            <a:ext cx="304800" cy="304800"/>
          </a:xfrm>
          <a:prstGeom prst="rect">
            <a:avLst/>
          </a:prstGeom>
        </p:spPr>
      </p:pic>
      <p:sp>
        <p:nvSpPr>
          <p:cNvPr id="11" name="AutoShape 11"/>
          <p:cNvSpPr/>
          <p:nvPr/>
        </p:nvSpPr>
        <p:spPr>
          <a:xfrm>
            <a:off x="1270000" y="33528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大模型分析模块</a:t>
            </a:r>
            <a:endParaRPr lang="en-US" sz="1100"/>
          </a:p>
        </p:txBody>
      </p:sp>
      <p:sp>
        <p:nvSpPr>
          <p:cNvPr id="12" name="AutoShape 12"/>
          <p:cNvSpPr/>
          <p:nvPr/>
        </p:nvSpPr>
        <p:spPr>
          <a:xfrm>
            <a:off x="1270000" y="37338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详细设计已完成，进入开发阶段。</a:t>
            </a:r>
            <a:endParaRPr lang="en-US" sz="1100"/>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4546600"/>
            <a:ext cx="304800" cy="304800"/>
          </a:xfrm>
          <a:prstGeom prst="rect">
            <a:avLst/>
          </a:prstGeom>
        </p:spPr>
      </p:pic>
      <p:sp>
        <p:nvSpPr>
          <p:cNvPr id="14" name="AutoShape 14"/>
          <p:cNvSpPr/>
          <p:nvPr/>
        </p:nvSpPr>
        <p:spPr>
          <a:xfrm>
            <a:off x="1270000" y="45466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Web平台模块</a:t>
            </a:r>
            <a:endParaRPr lang="en-US" sz="1100"/>
          </a:p>
        </p:txBody>
      </p:sp>
      <p:sp>
        <p:nvSpPr>
          <p:cNvPr id="15" name="AutoShape 15"/>
          <p:cNvSpPr/>
          <p:nvPr/>
        </p:nvSpPr>
        <p:spPr>
          <a:xfrm>
            <a:off x="1270000" y="4927600"/>
            <a:ext cx="4572000" cy="7112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已完成首页、列表页、详情页的原型草图设计和接口API文档定义。</a:t>
            </a:r>
            <a:endParaRPr lang="en-US" sz="1100"/>
          </a:p>
        </p:txBody>
      </p:sp>
      <p:cxnSp>
        <p:nvCxnSpPr>
          <p:cNvPr id="16" name="Connector 16"/>
          <p:cNvCxnSpPr/>
          <p:nvPr/>
        </p:nvCxnSpPr>
        <p:spPr>
          <a:xfrm rot="5389257">
            <a:off x="4063990" y="3549670"/>
            <a:ext cx="4064020" cy="12700"/>
          </a:xfrm>
          <a:prstGeom prst="straightConnector1">
            <a:avLst/>
          </a:prstGeom>
          <a:solidFill>
            <a:srgbClr val="DEE0E3">
              <a:alpha val="100000"/>
            </a:srgbClr>
          </a:solidFill>
          <a:ln w="12700" cap="flat" cmpd="sng">
            <a:solidFill>
              <a:srgbClr val="003366">
                <a:alpha val="20000"/>
              </a:srgbClr>
            </a:solidFill>
            <a:prstDash val="dash"/>
            <a:round/>
            <a:headEnd type="none" w="med" len="med"/>
            <a:tailEnd type="none" w="med" len="med"/>
          </a:ln>
        </p:spPr>
      </p:cxnSp>
      <p:sp>
        <p:nvSpPr>
          <p:cNvPr id="17" name="AutoShape 17"/>
          <p:cNvSpPr/>
          <p:nvPr/>
        </p:nvSpPr>
        <p:spPr>
          <a:xfrm>
            <a:off x="6604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Poppins"/>
                <a:ea typeface="Poppins"/>
                <a:cs typeface="Poppins"/>
                <a:sym typeface="Poppins"/>
              </a:rPr>
              <a:t>智能化功能规划</a:t>
            </a:r>
            <a:endParaRPr lang="en-US" sz="1100"/>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2159000"/>
            <a:ext cx="304800" cy="304800"/>
          </a:xfrm>
          <a:prstGeom prst="rect">
            <a:avLst/>
          </a:prstGeom>
        </p:spPr>
      </p:pic>
      <p:sp>
        <p:nvSpPr>
          <p:cNvPr id="19" name="AutoShape 19"/>
          <p:cNvSpPr/>
          <p:nvPr/>
        </p:nvSpPr>
        <p:spPr>
          <a:xfrm>
            <a:off x="7112000" y="2159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漏洞严重程度分类</a:t>
            </a:r>
            <a:endParaRPr lang="en-US" sz="1100"/>
          </a:p>
        </p:txBody>
      </p:sp>
      <p:sp>
        <p:nvSpPr>
          <p:cNvPr id="20" name="AutoShape 20"/>
          <p:cNvSpPr/>
          <p:nvPr/>
        </p:nvSpPr>
        <p:spPr>
          <a:xfrm>
            <a:off x="7112000" y="2540000"/>
            <a:ext cx="4826000" cy="7112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已完成分类算法的设计，计划基于大模型对漏洞描述的理解，输出高、中、低三个等级的风险评估。</a:t>
            </a:r>
            <a:endParaRPr lang="en-US" sz="1100"/>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3530600"/>
            <a:ext cx="304800" cy="304800"/>
          </a:xfrm>
          <a:prstGeom prst="rect">
            <a:avLst/>
          </a:prstGeom>
        </p:spPr>
      </p:pic>
      <p:sp>
        <p:nvSpPr>
          <p:cNvPr id="22" name="AutoShape 22"/>
          <p:cNvSpPr/>
          <p:nvPr/>
        </p:nvSpPr>
        <p:spPr>
          <a:xfrm>
            <a:off x="7112000" y="35306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影响范围预测</a:t>
            </a:r>
            <a:endParaRPr lang="en-US" sz="1100"/>
          </a:p>
        </p:txBody>
      </p:sp>
      <p:sp>
        <p:nvSpPr>
          <p:cNvPr id="23" name="AutoShape 23"/>
          <p:cNvSpPr/>
          <p:nvPr/>
        </p:nvSpPr>
        <p:spPr>
          <a:xfrm>
            <a:off x="7112000" y="3911600"/>
            <a:ext cx="4826000" cy="9144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已完成特征工程方案设计，计划提取漏洞相关的代码上下文特征，结合历史数据进行预测模型的训练。</a:t>
            </a:r>
            <a:endParaRPr lang="en-US" sz="1100"/>
          </a:p>
        </p:txBody>
      </p:sp>
      <p:cxnSp>
        <p:nvCxnSpPr>
          <p:cNvPr id="24" name="Connector 24"/>
          <p:cNvCxnSpPr/>
          <p:nvPr/>
        </p:nvCxnSpPr>
        <p:spPr>
          <a:xfrm rot="-4092">
            <a:off x="762004" y="5708650"/>
            <a:ext cx="10668008" cy="12700"/>
          </a:xfrm>
          <a:prstGeom prst="straightConnector1">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sp>
        <p:nvSpPr>
          <p:cNvPr id="25" name="AutoShape 25"/>
          <p:cNvSpPr/>
          <p:nvPr/>
        </p:nvSpPr>
        <p:spPr>
          <a:xfrm>
            <a:off x="762000" y="5842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前，数据采集和大模型分析模块的详细设计已全部完成，并已着手开发。Web平台的原型设计和接口定义也已结束。同时，我也完成了对漏洞严重程度分类和影响范围预测等智能化功能的初步设计，为后续的算法实现打下了基础。</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7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Poppins"/>
                <a:ea typeface="Poppins"/>
                <a:cs typeface="Poppins"/>
                <a:sym typeface="Poppins"/>
              </a:rPr>
              <a:t>04 后续进度计划</a:t>
            </a:r>
            <a:endParaRPr lang="en-US" sz="1100"/>
          </a:p>
        </p:txBody>
      </p:sp>
      <p:cxnSp>
        <p:nvCxnSpPr>
          <p:cNvPr id="4" name="Connector 4"/>
          <p:cNvCxnSpPr/>
          <p:nvPr/>
        </p:nvCxnSpPr>
        <p:spPr>
          <a:xfrm rot="-4092">
            <a:off x="762004" y="1212850"/>
            <a:ext cx="10668008" cy="12700"/>
          </a:xfrm>
          <a:prstGeom prst="straightConnector1">
            <a:avLst/>
          </a:prstGeom>
          <a:solidFill>
            <a:srgbClr val="DEE0E3">
              <a:alpha val="100000"/>
            </a:srgbClr>
          </a:solidFill>
          <a:ln w="12700" cap="flat" cmpd="sng">
            <a:solidFill>
              <a:srgbClr val="00BFFF">
                <a:alpha val="50000"/>
              </a:srgbClr>
            </a:solidFill>
            <a:prstDash val="solid"/>
            <a:round/>
            <a:headEnd type="none" w="med" len="med"/>
            <a:tailEnd type="none" w="med" len="med"/>
          </a:ln>
        </p:spPr>
      </p:cxnSp>
      <p:cxnSp>
        <p:nvCxnSpPr>
          <p:cNvPr id="5" name="Connector 5"/>
          <p:cNvCxnSpPr/>
          <p:nvPr/>
        </p:nvCxnSpPr>
        <p:spPr>
          <a:xfrm rot="5388910">
            <a:off x="-952510" y="3740170"/>
            <a:ext cx="3937020" cy="12700"/>
          </a:xfrm>
          <a:prstGeom prst="straightConnector1">
            <a:avLst/>
          </a:prstGeom>
          <a:solidFill>
            <a:srgbClr val="DEE0E3">
              <a:alpha val="100000"/>
            </a:srgbClr>
          </a:solidFill>
          <a:ln w="25400" cap="flat" cmpd="sng">
            <a:solidFill>
              <a:srgbClr val="00BFFF">
                <a:alpha val="80000"/>
              </a:srgbClr>
            </a:solidFill>
            <a:prstDash val="solid"/>
            <a:round/>
            <a:headEnd type="none" w="lg" len="lg"/>
            <a:tailEnd type="none" w="lg" len="lg"/>
          </a:ln>
        </p:spPr>
      </p:cxnSp>
      <p:sp>
        <p:nvSpPr>
          <p:cNvPr id="6" name="AutoShape 6"/>
          <p:cNvSpPr/>
          <p:nvPr/>
        </p:nvSpPr>
        <p:spPr>
          <a:xfrm>
            <a:off x="914400" y="1778000"/>
            <a:ext cx="203200" cy="203200"/>
          </a:xfrm>
          <a:prstGeom prst="ellipse">
            <a:avLst/>
          </a:prstGeom>
          <a:solidFill>
            <a:srgbClr val="00BFFF">
              <a:alpha val="80000"/>
            </a:srgbClr>
          </a:solidFill>
          <a:ln w="38100" cap="flat" cmpd="sng">
            <a:solidFill>
              <a:srgbClr val="F8F9FA">
                <a:alpha val="100000"/>
              </a:srgbClr>
            </a:solidFill>
            <a:prstDash val="solid"/>
            <a:round/>
          </a:ln>
        </p:spPr>
        <p:txBody>
          <a:bodyPr vert="horz" wrap="square" lIns="0" tIns="0" rIns="0" bIns="0" rtlCol="0" anchor="ctr" anchorCtr="0"/>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 y="1778000"/>
            <a:ext cx="304800" cy="304800"/>
          </a:xfrm>
          <a:prstGeom prst="rect">
            <a:avLst/>
          </a:prstGeom>
        </p:spPr>
      </p:pic>
      <p:sp>
        <p:nvSpPr>
          <p:cNvPr id="8" name="AutoShape 8"/>
          <p:cNvSpPr/>
          <p:nvPr/>
        </p:nvSpPr>
        <p:spPr>
          <a:xfrm>
            <a:off x="2032000" y="18034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第 1-2 周：数据与模型优化</a:t>
            </a:r>
            <a:endParaRPr lang="en-US" sz="1100"/>
          </a:p>
        </p:txBody>
      </p:sp>
      <p:sp>
        <p:nvSpPr>
          <p:cNvPr id="9" name="AutoShape 9"/>
          <p:cNvSpPr/>
          <p:nvPr/>
        </p:nvSpPr>
        <p:spPr>
          <a:xfrm>
            <a:off x="1524000" y="2209800"/>
            <a:ext cx="9398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根据详细设计文档，完成数据采集模块和大模型分析模块的编码实现与单元测试。</a:t>
            </a:r>
            <a:endParaRPr lang="en-US" sz="1100"/>
          </a:p>
        </p:txBody>
      </p:sp>
      <p:sp>
        <p:nvSpPr>
          <p:cNvPr id="10" name="AutoShape 10"/>
          <p:cNvSpPr/>
          <p:nvPr/>
        </p:nvSpPr>
        <p:spPr>
          <a:xfrm>
            <a:off x="914400" y="3048000"/>
            <a:ext cx="203200" cy="203200"/>
          </a:xfrm>
          <a:prstGeom prst="ellipse">
            <a:avLst/>
          </a:prstGeom>
          <a:solidFill>
            <a:srgbClr val="00BFFF">
              <a:alpha val="80000"/>
            </a:srgbClr>
          </a:solidFill>
          <a:ln w="38100" cap="flat" cmpd="sng">
            <a:solidFill>
              <a:srgbClr val="F8F9FA">
                <a:alpha val="100000"/>
              </a:srgbClr>
            </a:solidFill>
            <a:prstDash val="solid"/>
            <a:round/>
          </a:ln>
        </p:spPr>
        <p:txBody>
          <a:bodyPr vert="horz" wrap="square" lIns="0" tIns="0" rIns="0" bIns="0" rtlCol="0" anchor="ctr" anchorCtr="0"/>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 y="3048000"/>
            <a:ext cx="304800" cy="304800"/>
          </a:xfrm>
          <a:prstGeom prst="rect">
            <a:avLst/>
          </a:prstGeom>
        </p:spPr>
      </p:pic>
      <p:sp>
        <p:nvSpPr>
          <p:cNvPr id="12" name="AutoShape 12"/>
          <p:cNvSpPr/>
          <p:nvPr/>
        </p:nvSpPr>
        <p:spPr>
          <a:xfrm>
            <a:off x="2032000" y="30734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第 3-4 周：前端可视化开发</a:t>
            </a:r>
            <a:endParaRPr lang="en-US" sz="1100"/>
          </a:p>
        </p:txBody>
      </p:sp>
      <p:sp>
        <p:nvSpPr>
          <p:cNvPr id="13" name="AutoShape 13"/>
          <p:cNvSpPr/>
          <p:nvPr/>
        </p:nvSpPr>
        <p:spPr>
          <a:xfrm>
            <a:off x="1524000" y="3479800"/>
            <a:ext cx="9398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完成Web前端可视化界面的开发，并与后端API进行联调测试，确保数据交互正常。</a:t>
            </a:r>
            <a:endParaRPr lang="en-US" sz="1100"/>
          </a:p>
        </p:txBody>
      </p:sp>
      <p:sp>
        <p:nvSpPr>
          <p:cNvPr id="14" name="AutoShape 14"/>
          <p:cNvSpPr/>
          <p:nvPr/>
        </p:nvSpPr>
        <p:spPr>
          <a:xfrm>
            <a:off x="914400" y="4318000"/>
            <a:ext cx="203200" cy="203200"/>
          </a:xfrm>
          <a:prstGeom prst="ellipse">
            <a:avLst/>
          </a:prstGeom>
          <a:solidFill>
            <a:srgbClr val="00BFFF">
              <a:alpha val="80000"/>
            </a:srgbClr>
          </a:solidFill>
          <a:ln w="38100" cap="flat" cmpd="sng">
            <a:solidFill>
              <a:srgbClr val="F8F9FA">
                <a:alpha val="100000"/>
              </a:srgbClr>
            </a:solid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24000" y="4318000"/>
            <a:ext cx="304800" cy="304800"/>
          </a:xfrm>
          <a:prstGeom prst="rect">
            <a:avLst/>
          </a:prstGeom>
        </p:spPr>
      </p:pic>
      <p:sp>
        <p:nvSpPr>
          <p:cNvPr id="16" name="AutoShape 16"/>
          <p:cNvSpPr/>
          <p:nvPr/>
        </p:nvSpPr>
        <p:spPr>
          <a:xfrm>
            <a:off x="2032000" y="43434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第 5-8 周：集成测试与部署</a:t>
            </a:r>
            <a:endParaRPr lang="en-US" sz="1100"/>
          </a:p>
        </p:txBody>
      </p:sp>
      <p:sp>
        <p:nvSpPr>
          <p:cNvPr id="17" name="AutoShape 17"/>
          <p:cNvSpPr/>
          <p:nvPr/>
        </p:nvSpPr>
        <p:spPr>
          <a:xfrm>
            <a:off x="1524000" y="4749800"/>
            <a:ext cx="9398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进行系统集成测试与性能优化，部署至云服务器并进行实际数据验证。</a:t>
            </a:r>
            <a:endParaRPr lang="en-US" sz="1100"/>
          </a:p>
        </p:txBody>
      </p:sp>
      <p:cxnSp>
        <p:nvCxnSpPr>
          <p:cNvPr id="18" name="Connector 18"/>
          <p:cNvCxnSpPr/>
          <p:nvPr/>
        </p:nvCxnSpPr>
        <p:spPr>
          <a:xfrm rot="-4092">
            <a:off x="762004" y="5454650"/>
            <a:ext cx="10668008" cy="12700"/>
          </a:xfrm>
          <a:prstGeom prst="straightConnector1">
            <a:avLst/>
          </a:prstGeom>
          <a:solidFill>
            <a:srgbClr val="DEE0E3">
              <a:alpha val="100000"/>
            </a:srgbClr>
          </a:solidFill>
          <a:ln w="12700" cap="flat" cmpd="sng">
            <a:solidFill>
              <a:srgbClr val="00BFFF">
                <a:alpha val="50000"/>
              </a:srgbClr>
            </a:solidFill>
            <a:prstDash val="dash"/>
            <a:round/>
            <a:headEnd type="none" w="med" len="med"/>
            <a:tailEnd type="none" w="med" len="med"/>
          </a:ln>
        </p:spPr>
      </p:cxn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2000" y="5715000"/>
            <a:ext cx="304800" cy="304800"/>
          </a:xfrm>
          <a:prstGeom prst="rect">
            <a:avLst/>
          </a:prstGeom>
        </p:spPr>
      </p:pic>
      <p:sp>
        <p:nvSpPr>
          <p:cNvPr id="20" name="AutoShape 20"/>
          <p:cNvSpPr/>
          <p:nvPr/>
        </p:nvSpPr>
        <p:spPr>
          <a:xfrm>
            <a:off x="1270000" y="5740400"/>
            <a:ext cx="990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最终成果：</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完成功能完备的原型系统、一份详细的数据报告以及毕业论文的撰写。</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5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Poppins"/>
                <a:ea typeface="Poppins"/>
                <a:cs typeface="Poppins"/>
                <a:sym typeface="Poppins"/>
              </a:rPr>
              <a:t>05 风险与应对</a:t>
            </a:r>
            <a:endParaRPr lang="en-US" sz="1100"/>
          </a:p>
        </p:txBody>
      </p:sp>
      <p:cxnSp>
        <p:nvCxnSpPr>
          <p:cNvPr id="4" name="Connector 4"/>
          <p:cNvCxnSpPr/>
          <p:nvPr/>
        </p:nvCxnSpPr>
        <p:spPr>
          <a:xfrm rot="-4092">
            <a:off x="762004" y="1212850"/>
            <a:ext cx="10668000" cy="12700"/>
          </a:xfrm>
          <a:prstGeom prst="straightConnector1">
            <a:avLst/>
          </a:prstGeom>
          <a:solidFill>
            <a:srgbClr val="DEE0E3">
              <a:alpha val="100000"/>
            </a:srgbClr>
          </a:solidFill>
          <a:ln w="12700" cap="flat" cmpd="sng">
            <a:solidFill>
              <a:srgbClr val="003366">
                <a:alpha val="20000"/>
              </a:srgbClr>
            </a:solidFill>
            <a:prstDash val="solid"/>
            <a:round/>
            <a:headEnd type="none" w="med" len="med"/>
            <a:tailEnd type="none" w="med" len="med"/>
          </a:ln>
        </p:spPr>
      </p:cxnSp>
      <p:sp>
        <p:nvSpPr>
          <p:cNvPr id="5" name="AutoShape 5"/>
          <p:cNvSpPr/>
          <p:nvPr/>
        </p:nvSpPr>
        <p:spPr>
          <a:xfrm>
            <a:off x="762000" y="1651000"/>
            <a:ext cx="3302000" cy="3556000"/>
          </a:xfrm>
          <a:prstGeom prst="roundRect">
            <a:avLst>
              <a:gd name="adj" fmla="val 3076"/>
            </a:avLst>
          </a:prstGeom>
          <a:solidFill>
            <a:srgbClr val="FFFFFF">
              <a:alpha val="100000"/>
            </a:srgbClr>
          </a:solidFill>
          <a:ln w="12700" cap="flat" cmpd="sng">
            <a:solidFill>
              <a:srgbClr val="003366">
                <a:alpha val="15000"/>
              </a:srgbClr>
            </a:solid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406400" cy="406400"/>
          </a:xfrm>
          <a:prstGeom prst="rect">
            <a:avLst/>
          </a:prstGeom>
        </p:spPr>
      </p:pic>
      <p:sp>
        <p:nvSpPr>
          <p:cNvPr id="7" name="AutoShape 7"/>
          <p:cNvSpPr/>
          <p:nvPr/>
        </p:nvSpPr>
        <p:spPr>
          <a:xfrm>
            <a:off x="1016000" y="24384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Poppins"/>
                <a:ea typeface="Poppins"/>
                <a:cs typeface="Poppins"/>
                <a:sym typeface="Poppins"/>
              </a:rPr>
              <a:t>模型分析准确率不足</a:t>
            </a:r>
            <a:endParaRPr lang="en-US" sz="1100"/>
          </a:p>
        </p:txBody>
      </p:sp>
      <p:sp>
        <p:nvSpPr>
          <p:cNvPr id="8" name="AutoShape 8"/>
          <p:cNvSpPr/>
          <p:nvPr/>
        </p:nvSpPr>
        <p:spPr>
          <a:xfrm>
            <a:off x="1016000" y="28702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优化提示词工程，引入多模型交叉验证，并增加人工辅助校对，确保结论可靠。</a:t>
            </a:r>
            <a:endParaRPr lang="en-US" sz="1100"/>
          </a:p>
        </p:txBody>
      </p:sp>
      <p:sp>
        <p:nvSpPr>
          <p:cNvPr id="9" name="AutoShape 9"/>
          <p:cNvSpPr/>
          <p:nvPr/>
        </p:nvSpPr>
        <p:spPr>
          <a:xfrm>
            <a:off x="4445000" y="1651000"/>
            <a:ext cx="3302000" cy="3556000"/>
          </a:xfrm>
          <a:prstGeom prst="roundRect">
            <a:avLst>
              <a:gd name="adj" fmla="val 3076"/>
            </a:avLst>
          </a:prstGeom>
          <a:solidFill>
            <a:srgbClr val="FFFFFF">
              <a:alpha val="100000"/>
            </a:srgbClr>
          </a:solidFill>
          <a:ln w="12700" cap="flat" cmpd="sng">
            <a:solidFill>
              <a:srgbClr val="003366">
                <a:alpha val="15000"/>
              </a:srgbClr>
            </a:solidFill>
            <a:prstDash val="solid"/>
            <a:round/>
          </a:ln>
        </p:spPr>
        <p:txBody>
          <a:bodyPr vert="horz" wrap="square" lIns="0" tIns="0" rIns="0" bIns="0" rtlCol="0" anchor="ctr" anchorCtr="0"/>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905000"/>
            <a:ext cx="406400" cy="406400"/>
          </a:xfrm>
          <a:prstGeom prst="rect">
            <a:avLst/>
          </a:prstGeom>
        </p:spPr>
      </p:pic>
      <p:sp>
        <p:nvSpPr>
          <p:cNvPr id="11" name="AutoShape 11"/>
          <p:cNvSpPr/>
          <p:nvPr/>
        </p:nvSpPr>
        <p:spPr>
          <a:xfrm>
            <a:off x="4699000" y="24384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Poppins"/>
                <a:ea typeface="Poppins"/>
                <a:cs typeface="Poppins"/>
                <a:sym typeface="Poppins"/>
              </a:rPr>
              <a:t>数据采集效率低</a:t>
            </a:r>
            <a:endParaRPr lang="en-US" sz="1100"/>
          </a:p>
        </p:txBody>
      </p:sp>
      <p:sp>
        <p:nvSpPr>
          <p:cNvPr id="12" name="AutoShape 12"/>
          <p:cNvSpPr/>
          <p:nvPr/>
        </p:nvSpPr>
        <p:spPr>
          <a:xfrm>
            <a:off x="4699000" y="28702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优化增量爬取算法，并增加多线程支持，并行处理任务，显著提升数据采集效率。</a:t>
            </a:r>
            <a:endParaRPr lang="en-US" sz="1100"/>
          </a:p>
        </p:txBody>
      </p:sp>
      <p:sp>
        <p:nvSpPr>
          <p:cNvPr id="13" name="AutoShape 13"/>
          <p:cNvSpPr/>
          <p:nvPr/>
        </p:nvSpPr>
        <p:spPr>
          <a:xfrm>
            <a:off x="8128000" y="1651000"/>
            <a:ext cx="3302000" cy="3556000"/>
          </a:xfrm>
          <a:prstGeom prst="roundRect">
            <a:avLst>
              <a:gd name="adj" fmla="val 3076"/>
            </a:avLst>
          </a:prstGeom>
          <a:solidFill>
            <a:srgbClr val="FFFFFF">
              <a:alpha val="100000"/>
            </a:srgbClr>
          </a:solidFill>
          <a:ln w="12700" cap="flat" cmpd="sng">
            <a:solidFill>
              <a:srgbClr val="003366">
                <a:alpha val="15000"/>
              </a:srgbClr>
            </a:solidFill>
            <a:prstDash val="solid"/>
            <a:round/>
          </a:ln>
        </p:spPr>
        <p:txBody>
          <a:bodyPr vert="horz" wrap="square" lIns="0" tIns="0" rIns="0" bIns="0" rtlCol="0" anchor="ctr" anchorCtr="0"/>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1905000"/>
            <a:ext cx="406400" cy="406400"/>
          </a:xfrm>
          <a:prstGeom prst="rect">
            <a:avLst/>
          </a:prstGeom>
        </p:spPr>
      </p:pic>
      <p:sp>
        <p:nvSpPr>
          <p:cNvPr id="15" name="AutoShape 15"/>
          <p:cNvSpPr/>
          <p:nvPr/>
        </p:nvSpPr>
        <p:spPr>
          <a:xfrm>
            <a:off x="8382000" y="24384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Poppins"/>
                <a:ea typeface="Poppins"/>
                <a:cs typeface="Poppins"/>
                <a:sym typeface="Poppins"/>
              </a:rPr>
              <a:t>Web平台性能瓶颈</a:t>
            </a:r>
            <a:endParaRPr lang="en-US" sz="1100"/>
          </a:p>
        </p:txBody>
      </p:sp>
      <p:sp>
        <p:nvSpPr>
          <p:cNvPr id="16" name="AutoShape 16"/>
          <p:cNvSpPr/>
          <p:nvPr/>
        </p:nvSpPr>
        <p:spPr>
          <a:xfrm>
            <a:off x="8382000" y="28702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采用前后端分离、Redis缓存、前端懒加载与资源压缩，确保高并发下的流畅体验。</a:t>
            </a:r>
            <a:endParaRPr lang="en-US" sz="1100"/>
          </a:p>
        </p:txBody>
      </p:sp>
      <p:cxnSp>
        <p:nvCxnSpPr>
          <p:cNvPr id="17" name="Connector 17"/>
          <p:cNvCxnSpPr/>
          <p:nvPr/>
        </p:nvCxnSpPr>
        <p:spPr>
          <a:xfrm rot="-4092">
            <a:off x="762004" y="5454650"/>
            <a:ext cx="10668000" cy="12700"/>
          </a:xfrm>
          <a:prstGeom prst="straightConnector1">
            <a:avLst/>
          </a:prstGeom>
          <a:solidFill>
            <a:srgbClr val="DEE0E3">
              <a:alpha val="100000"/>
            </a:srgbClr>
          </a:solidFill>
          <a:ln w="12700" cap="flat" cmpd="sng">
            <a:solidFill>
              <a:srgbClr val="003366">
                <a:alpha val="15000"/>
              </a:srgbClr>
            </a:solidFill>
            <a:prstDash val="dash"/>
            <a:round/>
            <a:headEnd type="none" w="med" len="med"/>
            <a:tailEnd type="none" w="med" len="med"/>
          </a:ln>
        </p:spPr>
      </p:cxnSp>
      <p:sp>
        <p:nvSpPr>
          <p:cNvPr id="18" name="AutoShape 18"/>
          <p:cNvSpPr/>
          <p:nvPr/>
        </p:nvSpPr>
        <p:spPr>
          <a:xfrm>
            <a:off x="762000" y="5715000"/>
            <a:ext cx="10668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通过前瞻性风险预判与系统性应对策略，保障项目平稳、高效、高质量交付。</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7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762000" y="508000"/>
            <a:ext cx="508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Poppins"/>
                <a:ea typeface="Poppins"/>
                <a:cs typeface="Poppins"/>
                <a:sym typeface="Poppins"/>
              </a:rPr>
              <a:t>06 总结</a:t>
            </a:r>
            <a:endParaRPr lang="en-US" sz="1100"/>
          </a:p>
        </p:txBody>
      </p:sp>
      <p:cxnSp>
        <p:nvCxnSpPr>
          <p:cNvPr id="5" name="Connector 5"/>
          <p:cNvCxnSpPr/>
          <p:nvPr/>
        </p:nvCxnSpPr>
        <p:spPr>
          <a:xfrm rot="-4092">
            <a:off x="762004" y="1263650"/>
            <a:ext cx="10668008"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778000"/>
            <a:ext cx="304800" cy="304800"/>
          </a:xfrm>
          <a:prstGeom prst="rect">
            <a:avLst/>
          </a:prstGeom>
        </p:spPr>
      </p:pic>
      <p:sp>
        <p:nvSpPr>
          <p:cNvPr id="7" name="AutoShape 7"/>
          <p:cNvSpPr/>
          <p:nvPr/>
        </p:nvSpPr>
        <p:spPr>
          <a:xfrm>
            <a:off x="1320800" y="1803400"/>
            <a:ext cx="9906000" cy="609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目前已完成开发环境搭建、总体方案设计、核心数据库建模以及数据采集和大模型分析等基础模块的开发工作。</a:t>
            </a:r>
            <a:endParaRPr lang="en-US" sz="1100"/>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794000"/>
            <a:ext cx="304800" cy="304800"/>
          </a:xfrm>
          <a:prstGeom prst="rect">
            <a:avLst/>
          </a:prstGeom>
        </p:spPr>
      </p:pic>
      <p:sp>
        <p:nvSpPr>
          <p:cNvPr id="9" name="AutoShape 9"/>
          <p:cNvSpPr/>
          <p:nvPr/>
        </p:nvSpPr>
        <p:spPr>
          <a:xfrm>
            <a:off x="1320800" y="2819400"/>
            <a:ext cx="9906000" cy="609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初步的原型验证结果表明，本课题所采用的技术方案是可行且有效的。</a:t>
            </a:r>
            <a:endParaRPr lang="en-US" sz="1100"/>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3810000"/>
            <a:ext cx="304800" cy="304800"/>
          </a:xfrm>
          <a:prstGeom prst="rect">
            <a:avLst/>
          </a:prstGeom>
        </p:spPr>
      </p:pic>
      <p:sp>
        <p:nvSpPr>
          <p:cNvPr id="11" name="AutoShape 11"/>
          <p:cNvSpPr/>
          <p:nvPr/>
        </p:nvSpPr>
        <p:spPr>
          <a:xfrm>
            <a:off x="1320800" y="3835400"/>
            <a:ext cx="9906000" cy="609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后续将严格按照进度计划，稳步推进系统的集成、测试与优化工作，确保按时完成所有研究目标。</a:t>
            </a:r>
            <a:endParaRPr lang="en-US" sz="1100"/>
          </a:p>
        </p:txBody>
      </p:sp>
      <p:cxnSp>
        <p:nvCxnSpPr>
          <p:cNvPr id="12" name="Connector 12"/>
          <p:cNvCxnSpPr/>
          <p:nvPr/>
        </p:nvCxnSpPr>
        <p:spPr>
          <a:xfrm rot="-4092">
            <a:off x="762004" y="4819650"/>
            <a:ext cx="10668008" cy="12700"/>
          </a:xfrm>
          <a:prstGeom prst="straightConnector1">
            <a:avLst/>
          </a:prstGeom>
          <a:solidFill>
            <a:srgbClr val="DEE0E3">
              <a:alpha val="100000"/>
            </a:srgbClr>
          </a:solidFill>
          <a:ln w="12700" cap="flat" cmpd="sng">
            <a:solidFill>
              <a:srgbClr val="003366">
                <a:alpha val="30000"/>
              </a:srgbClr>
            </a:solidFill>
            <a:prstDash val="solid"/>
            <a:round/>
            <a:headEnd type="none" w="med" len="med"/>
            <a:tailEnd type="none" w="med" len="med"/>
          </a:ln>
        </p:spPr>
      </p:cxnSp>
      <p:sp>
        <p:nvSpPr>
          <p:cNvPr id="13" name="AutoShape 13"/>
          <p:cNvSpPr/>
          <p:nvPr/>
        </p:nvSpPr>
        <p:spPr>
          <a:xfrm>
            <a:off x="1320800" y="5207000"/>
            <a:ext cx="9906000" cy="304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感谢聆听，敬请指正！</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2286000" y="1905000"/>
            <a:ext cx="7620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6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Q&amp;A</a:t>
            </a:r>
            <a:endParaRPr lang="en-US" sz="1100"/>
          </a:p>
        </p:txBody>
      </p:sp>
      <p:cxnSp>
        <p:nvCxnSpPr>
          <p:cNvPr id="5" name="Connector 5"/>
          <p:cNvCxnSpPr/>
          <p:nvPr/>
        </p:nvCxnSpPr>
        <p:spPr>
          <a:xfrm rot="-21485">
            <a:off x="5080020" y="3041650"/>
            <a:ext cx="2032000" cy="12700"/>
          </a:xfrm>
          <a:prstGeom prst="straightConnector1">
            <a:avLst/>
          </a:prstGeom>
          <a:solidFill>
            <a:srgbClr val="DEE0E3">
              <a:alpha val="100000"/>
            </a:srgbClr>
          </a:solidFill>
          <a:ln w="25400" cap="flat" cmpd="sng">
            <a:solidFill>
              <a:srgbClr val="003366">
                <a:alpha val="100000"/>
              </a:srgbClr>
            </a:solidFill>
            <a:prstDash val="solid"/>
            <a:round/>
            <a:headEnd type="none" w="lg" len="lg"/>
            <a:tailEnd type="none" w="lg" len="lg"/>
          </a:ln>
        </p:spPr>
      </p:cxnSp>
      <p:sp>
        <p:nvSpPr>
          <p:cNvPr id="6" name="AutoShape 6"/>
          <p:cNvSpPr/>
          <p:nvPr/>
        </p:nvSpPr>
        <p:spPr>
          <a:xfrm>
            <a:off x="2286000" y="3429000"/>
            <a:ext cx="762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003366"/>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sp>
        <p:nvSpPr>
          <p:cNvPr id="7" name="AutoShape 7"/>
          <p:cNvSpPr/>
          <p:nvPr/>
        </p:nvSpPr>
        <p:spPr>
          <a:xfrm>
            <a:off x="1651000" y="4191000"/>
            <a:ext cx="889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感谢各位老师的聆听与指导！</a:t>
            </a:r>
            <a:endParaRPr lang="en-US" sz="1100"/>
          </a:p>
        </p:txBody>
      </p:sp>
      <p:sp>
        <p:nvSpPr>
          <p:cNvPr id="8" name="AutoShape 8"/>
          <p:cNvSpPr/>
          <p:nvPr/>
        </p:nvSpPr>
        <p:spPr>
          <a:xfrm>
            <a:off x="1651000" y="4699000"/>
            <a:ext cx="889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恳请各位老师批评指正。</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220,&quot;left&quot;:60,&quot;top&quot;:140,&quot;width&quot;:840}"/>
</p:tagLst>
</file>

<file path=ppt/tags/tag2.xml><?xml version="1.0" encoding="utf-8"?>
<p:tagLst xmlns:p="http://schemas.openxmlformats.org/presentationml/2006/main">
  <p:tag name="KSO_WM_DIAGRAM_VIRTUALLY_FRAME" val="{&quot;height&quot;:220,&quot;left&quot;:60,&quot;top&quot;:140,&quot;width&quot;:840}"/>
</p:tagLst>
</file>

<file path=ppt/tags/tag3.xml><?xml version="1.0" encoding="utf-8"?>
<p:tagLst xmlns:p="http://schemas.openxmlformats.org/presentationml/2006/main">
  <p:tag name="KSO_WM_DIAGRAM_VIRTUALLY_FRAME" val="{&quot;height&quot;:220,&quot;left&quot;:60,&quot;top&quot;:140,&quot;width&quot;:840}"/>
</p:tagLst>
</file>

<file path=ppt/tags/tag4.xml><?xml version="1.0" encoding="utf-8"?>
<p:tagLst xmlns:p="http://schemas.openxmlformats.org/presentationml/2006/main">
  <p:tag name="KSO_WM_DIAGRAM_VIRTUALLY_FRAME" val="{&quot;height&quot;:220,&quot;left&quot;:60,&quot;top&quot;:140,&quot;width&quot;:840}"/>
</p:tagLst>
</file>

<file path=ppt/tags/tag5.xml><?xml version="1.0" encoding="utf-8"?>
<p:tagLst xmlns:p="http://schemas.openxmlformats.org/presentationml/2006/main">
  <p:tag name="KSO_WM_DIAGRAM_VIRTUALLY_FRAME" val="{&quot;height&quot;:220,&quot;left&quot;:60,&quot;top&quot;:140,&quot;width&quot;:840}"/>
</p:tagLst>
</file>

<file path=ppt/tags/tag6.xml><?xml version="1.0" encoding="utf-8"?>
<p:tagLst xmlns:p="http://schemas.openxmlformats.org/presentationml/2006/main">
  <p:tag name="KSO_WM_DIAGRAM_VIRTUALLY_FRAME" val="{&quot;height&quot;:220,&quot;left&quot;:60,&quot;top&quot;:140,&quot;width&quot;:840}"/>
</p:tagLst>
</file>

<file path=ppt/tags/tag7.xml><?xml version="1.0" encoding="utf-8"?>
<p:tagLst xmlns:p="http://schemas.openxmlformats.org/presentationml/2006/main">
  <p:tag name="KSO_WM_DIAGRAM_VIRTUALLY_FRAME" val="{&quot;height&quot;:220,&quot;left&quot;:60,&quot;top&quot;:140,&quot;width&quot;:840}"/>
</p:tagLst>
</file>

<file path=ppt/tags/tag8.xml><?xml version="1.0" encoding="utf-8"?>
<p:tagLst xmlns:p="http://schemas.openxmlformats.org/presentationml/2006/main">
  <p:tag name="KSO_WM_DIAGRAM_VIRTUALLY_FRAME" val="{&quot;height&quot;:220,&quot;left&quot;:60,&quot;top&quot;:140,&quot;width&quot;:840}"/>
</p:tagLst>
</file>

<file path=ppt/tags/tag9.xml><?xml version="1.0" encoding="utf-8"?>
<p:tagLst xmlns:p="http://schemas.openxmlformats.org/presentationml/2006/main">
  <p:tag name="KSO_WM_DIAGRAM_VIRTUALLY_FRAME" val="{&quot;height&quot;:220,&quot;left&quot;:60,&quot;top&quot;:140,&quot;width&quot;:840}"/>
</p:tagLst>
</file>

<file path=ppt/tags/tag10.xml><?xml version="1.0" encoding="utf-8"?>
<p:tagLst xmlns:p="http://schemas.openxmlformats.org/presentationml/2006/main">
  <p:tag name="KSO_WM_DIAGRAM_VIRTUALLY_FRAME" val="{&quot;height&quot;:220,&quot;left&quot;:60,&quot;top&quot;:140,&quot;width&quot;:840}"/>
</p:tagLst>
</file>

<file path=ppt/tags/tag11.xml><?xml version="1.0" encoding="utf-8"?>
<p:tagLst xmlns:p="http://schemas.openxmlformats.org/presentationml/2006/main">
  <p:tag name="KSO_WM_DIAGRAM_VIRTUALLY_FRAME" val="{&quot;height&quot;:220,&quot;left&quot;:60,&quot;top&quot;:140,&quot;width&quot;:840}"/>
</p:tagLst>
</file>

<file path=ppt/tags/tag12.xml><?xml version="1.0" encoding="utf-8"?>
<p:tagLst xmlns:p="http://schemas.openxmlformats.org/presentationml/2006/main">
  <p:tag name="KSO_WM_DIAGRAM_VIRTUALLY_FRAME" val="{&quot;height&quot;:220,&quot;left&quot;:60,&quot;top&quot;:14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1851</Words>
  <Application>WPS 演示</Application>
  <PresentationFormat/>
  <Paragraphs>210</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12</vt:i4>
      </vt:variant>
    </vt:vector>
  </HeadingPairs>
  <TitlesOfParts>
    <vt:vector size="23" baseType="lpstr">
      <vt:lpstr>Arial</vt:lpstr>
      <vt:lpstr>宋体</vt:lpstr>
      <vt:lpstr>Wingdings</vt:lpstr>
      <vt:lpstr>Arial</vt:lpstr>
      <vt:lpstr>Noto Sans SC</vt:lpstr>
      <vt:lpstr>Poppins</vt:lpstr>
      <vt:lpstr>Segoe Print</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子°</cp:lastModifiedBy>
  <cp:revision>1</cp:revision>
  <dcterms:created xsi:type="dcterms:W3CDTF">2025-12-29T08:57:35Z</dcterms:created>
  <dcterms:modified xsi:type="dcterms:W3CDTF">2025-12-29T08:57:35Z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B3E71F406C2E4A408F9576B95A58EF70_12</vt:lpwstr>
  </property>
</Properties>
</file>